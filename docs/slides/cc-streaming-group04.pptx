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70f7b1b-4452-a2ba-7ef1-87c43ec70cc7}">
          <p14:sldIdLst>
            <p14:sldId id="256"/>
            <p14:sldId id="257"/>
            <p14:sldId id="258"/>
          </p14:sldIdLst>
        </p14:section>
        <p14:section name="Design" id="{438505ef-e5cf-74de-b451-c64e727df7d8}">
          <p14:sldIdLst>
            <p14:sldId id="259"/>
            <p14:sldId id="260"/>
            <p14:sldId id="261"/>
            <p14:sldId id="262"/>
            <p14:sldId id="263"/>
            <p14:sldId id="264"/>
          </p14:sldIdLst>
        </p14:section>
        <p14:section name="Results" id="{a9c6878d-9ad5-f43d-d057-d6be3b58f3fd}">
          <p14:sldIdLst>
            <p14:sldId id="265"/>
            <p14:sldId id="266"/>
            <p14:sldId id="267"/>
          </p14:sldIdLst>
        </p14:section>
        <p14:section name="Wrap-up" id="{b67c7d2f-9629-7449-4c40-823b49a4e686}">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a lakehouse that keeps an analytical copy of a live PostgreSQL database up to date through change data capture. Our assigned Apache projects were Iceberg and Spark. The strip at the bottom is the whole pipeline, which we will unpack over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analytics directly on the production database competes with the application for resources. Classic batch ETL avoids that but is always behind and wastes work by re-copying unchanged rows. We want a copy that is fresh within seconds, provably identical to the source, and still fast to query, including its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goals map one-to-one onto the measurements in our benchmark, so every number later in the deck answers one of them. TPC-H at scale factor 1 gives a realistic 1.65 million row starting point, and the generator then keeps inserting, updating and deleting rows so the pipeline is always under live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workload generator writes to PostgreSQL; Debezium reads the write-ahead log through a logical replication slot and publishes one Kafka topic per table. Spark Structured Streaming merges each micro-batch into Iceberg tables whose metadata sits in a REST catalog and whose files live in MinIO, and Trino queries them. Airflow schedules the Spark maintenance jobs, and a custom exporter feeds Prometheus and Grafana. Locally everything runs in Docker; in the cloud each box maps to a managed service such as Event Hubs, Databricks and ADLS Gen2.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Debezium reads committed changes from the WAL, so the source database does no extra query work. On the Spark side each micro-batch is handled in foreachBatch: discover and evolve the schema, keep only the newest change per key, and apply everything with one MERGE. Because the MERGE is idempotent and the Kafka offsets are checkpointed, replaying a batch after a crash gives the same table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we run ALTER TABLE in PostgreSQL and the new column appears in Iceberg without restarting the stream. Iceberg keeps every committed snapshot, so Trino can query the table as of a snapshot id or a timestamp. Comparing two versions with EXCEPT gives a simple audit of exactly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leaves tables unpartitioned with many small data and delete files, so Airflow runs Spark Iceberg procedures to fix the layout. Partition evolution means the new monthly spec applies without rewriting history by hand, and the sorted compaction clusters related rows together. The full optimisation run took 169.8 seconds, which is the compaction overhead we pay for the faster queries on the results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right-to-erasure request is the case where Iceberg's history works against us. The delete reaches Iceberg as a delete file, so current queries no longer see the row, but a FOR VERSION AS OF query on an older snapshot still does. The purge DAG rewrites the affected files without the row and expires the old snapshots, and after that the data cannot be recovered through time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exporter measures what matters for a lakehouse: end-to-end freshness with a heartbeat row, replication-slot lag, ingest rate, and file health per table. The screenshot is from a load run, where you can see freshness rise during the bulk load and settle once it finishes. The alert rules turn those signals into actions, for example the small-files alert tells us to run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Trino queries were run five times each before and after optimisation and we report the median. The whole suite went from 21.6 to 6.6 seconds, a 3.25 times speed-up, with the largest gains on selective queries where monthly partitions and sorting let Trino skip files. The full aggregate did not improve, which is expected because it has to read every row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Compaction applied all 105 delete files and expiry cut each table's history to a single snapshot. The customer table shows the classic small-file fix: 58 files of about 157 KB became one file of 8.6 MB and storage dropped 22.4 percent. Orders is the honest exception: partitioning by month produced 80 files and 6.2 percent more storage, which is the partition-granularity trade-off we discuss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TPC-H load of 1.65 million rows was fully queryable in Iceberg after 340.7 seconds, and the streaming job sustained 3,574.9 records per second while processing. Under live load a committed row became visible in Trino after 7.3 seconds at the median and 11.73 seconds at p95, with no probe timing out. Row counts and checksums matched PostgreSQL for all four tables both before and after optimisation, so the copy is exact, not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problems we actually hit, mostly from running concurrent commits and big rewrites on a single laptop. The catalog fix mattered most: SQLite returned HTTP 500 errors as soon as streaming and compaction committed at the same time, and PostgreSQL's transactional store solved it. Most of the rest came down to memory, since the whole stack had to fit inside 8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pipeline keeps an exact, queryable copy of the operational database a few seconds behind the source, and the Airflow maintenance jobs make it much faster to query. Next we would compare Hudi against Iceberg on the same workload, add lineage with Apache Atlas, and deploy on AKS with Avro and a schema registry. Then we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tx2"/>
                </a:solidFill>
              </a:rPr>
              <a:t>SE-315 Cloud Computing  ·  Group 04</a:t>
            </a:r>
            <a:endParaRPr lang="en-US" sz="11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60120"/>
            <a:ext cx="11094415" cy="365760"/>
          </a:xfrm>
          <a:prstGeom prst="rect">
            <a:avLst/>
          </a:prstGeom>
          <a:noFill/>
          <a:ln/>
        </p:spPr>
        <p:txBody>
          <a:bodyPr wrap="square" lIns="0" tIns="0" rIns="0" bIns="0" rtlCol="0" anchor="t"/>
          <a:lstStyle/>
          <a:p>
            <a:pPr indent="0" marL="0">
              <a:buNone/>
            </a:pPr>
            <a:r>
              <a:rPr lang="en-US" sz="1800" b="1" dirty="0">
                <a:solidFill>
                  <a:schemeClr val="accent1"/>
                </a:solidFill>
              </a:rPr>
              <a:t>SE-315 Cloud Computing  ·  Semester Project</a:t>
            </a:r>
            <a:endParaRPr lang="en-US" sz="1800" dirty="0"/>
          </a:p>
        </p:txBody>
      </p:sp>
      <p:sp>
        <p:nvSpPr>
          <p:cNvPr id="3" name="Text 1"/>
          <p:cNvSpPr txBox="1"/>
          <p:nvPr/>
        </p:nvSpPr>
        <p:spPr>
          <a:xfrm>
            <a:off x="548640" y="1417320"/>
            <a:ext cx="9875520" cy="1737360"/>
          </a:xfrm>
          <a:prstGeom prst="rect">
            <a:avLst/>
          </a:prstGeom>
          <a:noFill/>
          <a:ln/>
        </p:spPr>
        <p:txBody>
          <a:bodyPr wrap="square" lIns="0" tIns="0" rIns="0" bIns="0" rtlCol="0" anchor="t"/>
          <a:lstStyle/>
          <a:p>
            <a:pPr indent="0" marL="0">
              <a:buNone/>
            </a:pPr>
            <a:r>
              <a:rPr lang="en-US" sz="4000" b="1" dirty="0">
                <a:solidFill>
                  <a:schemeClr val="tx1"/>
                </a:solidFill>
                <a:latin typeface="Calibri" pitchFamily="34" charset="0"/>
                <a:ea typeface="Calibri" pitchFamily="34" charset="-122"/>
                <a:cs typeface="Calibri" pitchFamily="34" charset="-120"/>
              </a:rPr>
              <a:t>Lakehouse Architecture with Apache Iceberg, Spark and Trino using CDC Ingestion</a:t>
            </a:r>
            <a:endParaRPr lang="en-US" sz="4000" dirty="0"/>
          </a:p>
        </p:txBody>
      </p:sp>
      <p:sp>
        <p:nvSpPr>
          <p:cNvPr id="4" name="Text 2"/>
          <p:cNvSpPr txBox="1"/>
          <p:nvPr/>
        </p:nvSpPr>
        <p:spPr>
          <a:xfrm>
            <a:off x="548640" y="3337560"/>
            <a:ext cx="11094415" cy="82296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Group 04: </a:t>
            </a:r>
            <a:pPr indent="0" marL="0">
              <a:spcAft>
                <a:spcPts val="600"/>
              </a:spcAft>
              <a:buNone/>
            </a:pPr>
            <a:r>
              <a:rPr lang="en-US" sz="2000" dirty="0">
                <a:solidFill>
                  <a:schemeClr val="tx2"/>
                </a:solidFill>
              </a:rPr>
              <a:t>Aliyan Zulfiqar (leader) and Sehrosh Riaz</a:t>
            </a:r>
            <a:endParaRPr lang="en-US" sz="2000" dirty="0"/>
          </a:p>
          <a:p>
            <a:pPr indent="0" marL="0">
              <a:spcAft>
                <a:spcPts val="600"/>
              </a:spcAft>
              <a:buNone/>
            </a:pPr>
            <a:r>
              <a:rPr lang="en-US" sz="2000" dirty="0">
                <a:solidFill>
                  <a:schemeClr val="tx2"/>
                </a:solidFill>
              </a:rPr>
              <a:t>NUST Balochistan Campus (NBC), Department of Computer Science</a:t>
            </a:r>
            <a:endParaRPr lang="en-US" sz="2000" dirty="0"/>
          </a:p>
        </p:txBody>
      </p:sp>
      <p:sp>
        <p:nvSpPr>
          <p:cNvPr id="5" name="pill-PostgreSQL"/>
          <p:cNvSpPr/>
          <p:nvPr/>
        </p:nvSpPr>
        <p:spPr>
          <a:xfrm>
            <a:off x="548640" y="4892040"/>
            <a:ext cx="1481328" cy="640080"/>
          </a:xfrm>
          <a:prstGeom prst="roundRect">
            <a:avLst>
              <a:gd name="adj" fmla="val 50000"/>
            </a:avLst>
          </a:prstGeom>
          <a:solidFill>
            <a:schemeClr val="bg2"/>
          </a:solidFill>
          <a:ln/>
        </p:spPr>
      </p:sp>
      <p:sp>
        <p:nvSpPr>
          <p:cNvPr id="6" name="Text 4"/>
          <p:cNvSpPr txBox="1"/>
          <p:nvPr/>
        </p:nvSpPr>
        <p:spPr>
          <a:xfrm>
            <a:off x="548640" y="4892040"/>
            <a:ext cx="1481328" cy="640080"/>
          </a:xfrm>
          <a:prstGeom prst="rect">
            <a:avLst/>
          </a:prstGeom>
          <a:noFill/>
          <a:ln/>
        </p:spPr>
        <p:txBody>
          <a:bodyPr wrap="square" lIns="0" tIns="0" rIns="0" bIns="0" rtlCol="0" anchor="ctr"/>
          <a:lstStyle/>
          <a:p>
            <a:pPr algn="ctr" indent="0" marL="0">
              <a:buNone/>
            </a:pPr>
            <a:r>
              <a:rPr lang="en-US" sz="1800" b="1" dirty="0">
                <a:solidFill>
                  <a:schemeClr val="tx1"/>
                </a:solidFill>
              </a:rPr>
              <a:t>PostgreSQL</a:t>
            </a:r>
            <a:endParaRPr lang="en-US" sz="1800" dirty="0"/>
          </a:p>
        </p:txBody>
      </p:sp>
      <p:sp>
        <p:nvSpPr>
          <p:cNvPr id="7" name="Shape 5"/>
          <p:cNvSpPr/>
          <p:nvPr/>
        </p:nvSpPr>
        <p:spPr>
          <a:xfrm>
            <a:off x="2084832" y="5212080"/>
            <a:ext cx="274320" cy="0"/>
          </a:xfrm>
          <a:prstGeom prst="line">
            <a:avLst/>
          </a:prstGeom>
          <a:noFill/>
          <a:ln w="25400">
            <a:solidFill>
              <a:schemeClr val="tx2"/>
            </a:solidFill>
            <a:prstDash val="solid"/>
            <a:tailEnd type="triangle"/>
          </a:ln>
        </p:spPr>
      </p:sp>
      <p:sp>
        <p:nvSpPr>
          <p:cNvPr id="8" name="pill-Debezium"/>
          <p:cNvSpPr/>
          <p:nvPr/>
        </p:nvSpPr>
        <p:spPr>
          <a:xfrm>
            <a:off x="2414016" y="4892040"/>
            <a:ext cx="1481328" cy="640080"/>
          </a:xfrm>
          <a:prstGeom prst="roundRect">
            <a:avLst>
              <a:gd name="adj" fmla="val 50000"/>
            </a:avLst>
          </a:prstGeom>
          <a:solidFill>
            <a:schemeClr val="bg2"/>
          </a:solidFill>
          <a:ln/>
        </p:spPr>
      </p:sp>
      <p:sp>
        <p:nvSpPr>
          <p:cNvPr id="9" name="Text 7"/>
          <p:cNvSpPr txBox="1"/>
          <p:nvPr/>
        </p:nvSpPr>
        <p:spPr>
          <a:xfrm>
            <a:off x="2414016" y="4892040"/>
            <a:ext cx="1481328" cy="640080"/>
          </a:xfrm>
          <a:prstGeom prst="rect">
            <a:avLst/>
          </a:prstGeom>
          <a:noFill/>
          <a:ln/>
        </p:spPr>
        <p:txBody>
          <a:bodyPr wrap="square" lIns="0" tIns="0" rIns="0" bIns="0" rtlCol="0" anchor="ctr"/>
          <a:lstStyle/>
          <a:p>
            <a:pPr algn="ctr" indent="0" marL="0">
              <a:buNone/>
            </a:pPr>
            <a:r>
              <a:rPr lang="en-US" sz="1800" b="1" dirty="0">
                <a:solidFill>
                  <a:schemeClr val="tx1"/>
                </a:solidFill>
              </a:rPr>
              <a:t>Debezium</a:t>
            </a:r>
            <a:endParaRPr lang="en-US" sz="1800" dirty="0"/>
          </a:p>
        </p:txBody>
      </p:sp>
      <p:sp>
        <p:nvSpPr>
          <p:cNvPr id="10" name="Shape 8"/>
          <p:cNvSpPr/>
          <p:nvPr/>
        </p:nvSpPr>
        <p:spPr>
          <a:xfrm>
            <a:off x="3950208" y="5212080"/>
            <a:ext cx="274320" cy="0"/>
          </a:xfrm>
          <a:prstGeom prst="line">
            <a:avLst/>
          </a:prstGeom>
          <a:noFill/>
          <a:ln w="25400">
            <a:solidFill>
              <a:schemeClr val="tx2"/>
            </a:solidFill>
            <a:prstDash val="solid"/>
            <a:tailEnd type="triangle"/>
          </a:ln>
        </p:spPr>
      </p:sp>
      <p:sp>
        <p:nvSpPr>
          <p:cNvPr id="11" name="pill-Kafka"/>
          <p:cNvSpPr/>
          <p:nvPr/>
        </p:nvSpPr>
        <p:spPr>
          <a:xfrm>
            <a:off x="4279392" y="4892040"/>
            <a:ext cx="1481328" cy="640080"/>
          </a:xfrm>
          <a:prstGeom prst="roundRect">
            <a:avLst>
              <a:gd name="adj" fmla="val 50000"/>
            </a:avLst>
          </a:prstGeom>
          <a:solidFill>
            <a:schemeClr val="bg2"/>
          </a:solidFill>
          <a:ln/>
        </p:spPr>
      </p:sp>
      <p:sp>
        <p:nvSpPr>
          <p:cNvPr id="12" name="Text 10"/>
          <p:cNvSpPr txBox="1"/>
          <p:nvPr/>
        </p:nvSpPr>
        <p:spPr>
          <a:xfrm>
            <a:off x="4279392" y="4892040"/>
            <a:ext cx="1481328" cy="640080"/>
          </a:xfrm>
          <a:prstGeom prst="rect">
            <a:avLst/>
          </a:prstGeom>
          <a:noFill/>
          <a:ln/>
        </p:spPr>
        <p:txBody>
          <a:bodyPr wrap="square" lIns="0" tIns="0" rIns="0" bIns="0" rtlCol="0" anchor="ctr"/>
          <a:lstStyle/>
          <a:p>
            <a:pPr algn="ctr" indent="0" marL="0">
              <a:buNone/>
            </a:pPr>
            <a:r>
              <a:rPr lang="en-US" sz="1800" b="1" dirty="0">
                <a:solidFill>
                  <a:schemeClr val="tx1"/>
                </a:solidFill>
              </a:rPr>
              <a:t>Kafka</a:t>
            </a:r>
            <a:endParaRPr lang="en-US" sz="1800" dirty="0"/>
          </a:p>
        </p:txBody>
      </p:sp>
      <p:sp>
        <p:nvSpPr>
          <p:cNvPr id="13" name="Shape 11"/>
          <p:cNvSpPr/>
          <p:nvPr/>
        </p:nvSpPr>
        <p:spPr>
          <a:xfrm>
            <a:off x="5815584" y="5212080"/>
            <a:ext cx="274320" cy="0"/>
          </a:xfrm>
          <a:prstGeom prst="line">
            <a:avLst/>
          </a:prstGeom>
          <a:noFill/>
          <a:ln w="25400">
            <a:solidFill>
              <a:schemeClr val="tx2"/>
            </a:solidFill>
            <a:prstDash val="solid"/>
            <a:tailEnd type="triangle"/>
          </a:ln>
        </p:spPr>
      </p:sp>
      <p:sp>
        <p:nvSpPr>
          <p:cNvPr id="14" name="pill-Spark"/>
          <p:cNvSpPr/>
          <p:nvPr/>
        </p:nvSpPr>
        <p:spPr>
          <a:xfrm>
            <a:off x="6144768" y="4892040"/>
            <a:ext cx="1481328" cy="640080"/>
          </a:xfrm>
          <a:prstGeom prst="roundRect">
            <a:avLst>
              <a:gd name="adj" fmla="val 50000"/>
            </a:avLst>
          </a:prstGeom>
          <a:solidFill>
            <a:schemeClr val="bg2"/>
          </a:solidFill>
          <a:ln/>
        </p:spPr>
      </p:sp>
      <p:sp>
        <p:nvSpPr>
          <p:cNvPr id="15" name="Text 13"/>
          <p:cNvSpPr txBox="1"/>
          <p:nvPr/>
        </p:nvSpPr>
        <p:spPr>
          <a:xfrm>
            <a:off x="6144768" y="4892040"/>
            <a:ext cx="1481328" cy="640080"/>
          </a:xfrm>
          <a:prstGeom prst="rect">
            <a:avLst/>
          </a:prstGeom>
          <a:noFill/>
          <a:ln/>
        </p:spPr>
        <p:txBody>
          <a:bodyPr wrap="square" lIns="0" tIns="0" rIns="0" bIns="0" rtlCol="0" anchor="ctr"/>
          <a:lstStyle/>
          <a:p>
            <a:pPr algn="ctr" indent="0" marL="0">
              <a:buNone/>
            </a:pPr>
            <a:r>
              <a:rPr lang="en-US" sz="1800" b="1" dirty="0">
                <a:solidFill>
                  <a:schemeClr val="tx1"/>
                </a:solidFill>
              </a:rPr>
              <a:t>Spark</a:t>
            </a:r>
            <a:endParaRPr lang="en-US" sz="1800" dirty="0"/>
          </a:p>
        </p:txBody>
      </p:sp>
      <p:sp>
        <p:nvSpPr>
          <p:cNvPr id="16" name="Shape 14"/>
          <p:cNvSpPr/>
          <p:nvPr/>
        </p:nvSpPr>
        <p:spPr>
          <a:xfrm>
            <a:off x="7680960" y="5212080"/>
            <a:ext cx="274320" cy="0"/>
          </a:xfrm>
          <a:prstGeom prst="line">
            <a:avLst/>
          </a:prstGeom>
          <a:noFill/>
          <a:ln w="25400">
            <a:solidFill>
              <a:schemeClr val="tx2"/>
            </a:solidFill>
            <a:prstDash val="solid"/>
            <a:tailEnd type="triangle"/>
          </a:ln>
        </p:spPr>
      </p:sp>
      <p:sp>
        <p:nvSpPr>
          <p:cNvPr id="17" name="pill-Iceberg"/>
          <p:cNvSpPr/>
          <p:nvPr/>
        </p:nvSpPr>
        <p:spPr>
          <a:xfrm>
            <a:off x="8010144" y="4892040"/>
            <a:ext cx="1481328" cy="640080"/>
          </a:xfrm>
          <a:prstGeom prst="roundRect">
            <a:avLst>
              <a:gd name="adj" fmla="val 50000"/>
            </a:avLst>
          </a:prstGeom>
          <a:solidFill>
            <a:schemeClr val="accent1"/>
          </a:solidFill>
          <a:ln/>
        </p:spPr>
      </p:sp>
      <p:sp>
        <p:nvSpPr>
          <p:cNvPr id="18" name="Text 16"/>
          <p:cNvSpPr txBox="1"/>
          <p:nvPr/>
        </p:nvSpPr>
        <p:spPr>
          <a:xfrm>
            <a:off x="8010144" y="4892040"/>
            <a:ext cx="1481328" cy="640080"/>
          </a:xfrm>
          <a:prstGeom prst="rect">
            <a:avLst/>
          </a:prstGeom>
          <a:noFill/>
          <a:ln/>
        </p:spPr>
        <p:txBody>
          <a:bodyPr wrap="square" lIns="0" tIns="0" rIns="0" bIns="0" rtlCol="0" anchor="ctr"/>
          <a:lstStyle/>
          <a:p>
            <a:pPr algn="ctr" indent="0" marL="0">
              <a:buNone/>
            </a:pPr>
            <a:r>
              <a:rPr lang="en-US" sz="1800" b="1" dirty="0">
                <a:solidFill>
                  <a:schemeClr val="bg1"/>
                </a:solidFill>
              </a:rPr>
              <a:t>Iceberg</a:t>
            </a:r>
            <a:endParaRPr lang="en-US" sz="1800" dirty="0"/>
          </a:p>
        </p:txBody>
      </p:sp>
      <p:sp>
        <p:nvSpPr>
          <p:cNvPr id="19" name="Shape 17"/>
          <p:cNvSpPr/>
          <p:nvPr/>
        </p:nvSpPr>
        <p:spPr>
          <a:xfrm>
            <a:off x="9546336" y="5212080"/>
            <a:ext cx="274320" cy="0"/>
          </a:xfrm>
          <a:prstGeom prst="line">
            <a:avLst/>
          </a:prstGeom>
          <a:noFill/>
          <a:ln w="25400">
            <a:solidFill>
              <a:schemeClr val="tx2"/>
            </a:solidFill>
            <a:prstDash val="solid"/>
            <a:tailEnd type="triangle"/>
          </a:ln>
        </p:spPr>
      </p:sp>
      <p:sp>
        <p:nvSpPr>
          <p:cNvPr id="20" name="pill-Trino"/>
          <p:cNvSpPr/>
          <p:nvPr/>
        </p:nvSpPr>
        <p:spPr>
          <a:xfrm>
            <a:off x="9875520" y="4892040"/>
            <a:ext cx="1481328" cy="640080"/>
          </a:xfrm>
          <a:prstGeom prst="roundRect">
            <a:avLst>
              <a:gd name="adj" fmla="val 50000"/>
            </a:avLst>
          </a:prstGeom>
          <a:solidFill>
            <a:schemeClr val="bg2"/>
          </a:solidFill>
          <a:ln/>
        </p:spPr>
      </p:sp>
      <p:sp>
        <p:nvSpPr>
          <p:cNvPr id="21" name="Text 19"/>
          <p:cNvSpPr txBox="1"/>
          <p:nvPr/>
        </p:nvSpPr>
        <p:spPr>
          <a:xfrm>
            <a:off x="9875520" y="4892040"/>
            <a:ext cx="1481328" cy="640080"/>
          </a:xfrm>
          <a:prstGeom prst="rect">
            <a:avLst/>
          </a:prstGeom>
          <a:noFill/>
          <a:ln/>
        </p:spPr>
        <p:txBody>
          <a:bodyPr wrap="square" lIns="0" tIns="0" rIns="0" bIns="0" rtlCol="0" anchor="ctr"/>
          <a:lstStyle/>
          <a:p>
            <a:pPr algn="ctr" indent="0" marL="0">
              <a:buNone/>
            </a:pPr>
            <a:r>
              <a:rPr lang="en-US" sz="1800" b="1" dirty="0">
                <a:solidFill>
                  <a:schemeClr val="tx1"/>
                </a:solidFill>
              </a:rPr>
              <a:t>Trino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Problem statement</a:t>
            </a:r>
            <a:endParaRPr lang="en-US" sz="3400" dirty="0"/>
          </a:p>
        </p:txBody>
      </p:sp>
      <p:sp>
        <p:nvSpPr>
          <p:cNvPr id="3" name="problem-card-1"/>
          <p:cNvSpPr/>
          <p:nvPr/>
        </p:nvSpPr>
        <p:spPr>
          <a:xfrm>
            <a:off x="548640" y="1463040"/>
            <a:ext cx="3515258" cy="3108960"/>
          </a:xfrm>
          <a:prstGeom prst="roundRect">
            <a:avLst>
              <a:gd name="adj" fmla="val 3529"/>
            </a:avLst>
          </a:prstGeom>
          <a:solidFill>
            <a:schemeClr val="bg2"/>
          </a:solidFill>
          <a:ln/>
        </p:spPr>
      </p:sp>
      <p:sp>
        <p:nvSpPr>
          <p:cNvPr id="4" name="problem-num-1"/>
          <p:cNvSpPr/>
          <p:nvPr/>
        </p:nvSpPr>
        <p:spPr>
          <a:xfrm>
            <a:off x="868680" y="1737360"/>
            <a:ext cx="548640" cy="548640"/>
          </a:xfrm>
          <a:prstGeom prst="ellipse">
            <a:avLst/>
          </a:prstGeom>
          <a:solidFill>
            <a:schemeClr val="accent1"/>
          </a:solidFill>
          <a:ln/>
        </p:spPr>
      </p:sp>
      <p:sp>
        <p:nvSpPr>
          <p:cNvPr id="5" name="Text 3"/>
          <p:cNvSpPr txBox="1"/>
          <p:nvPr/>
        </p:nvSpPr>
        <p:spPr>
          <a:xfrm>
            <a:off x="86868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868680" y="2514600"/>
            <a:ext cx="2875178" cy="457200"/>
          </a:xfrm>
          <a:prstGeom prst="rect">
            <a:avLst/>
          </a:prstGeom>
          <a:noFill/>
          <a:ln/>
        </p:spPr>
        <p:txBody>
          <a:bodyPr wrap="square" lIns="0" tIns="0" rIns="0" bIns="0" rtlCol="0" anchor="t"/>
          <a:lstStyle/>
          <a:p>
            <a:pPr indent="0" marL="0">
              <a:buNone/>
            </a:pPr>
            <a:r>
              <a:rPr lang="en-US" sz="2200" b="1" dirty="0">
                <a:solidFill>
                  <a:schemeClr val="tx1"/>
                </a:solidFill>
              </a:rPr>
              <a:t>Analytics on live data</a:t>
            </a:r>
            <a:endParaRPr lang="en-US" sz="2200" dirty="0"/>
          </a:p>
        </p:txBody>
      </p:sp>
      <p:sp>
        <p:nvSpPr>
          <p:cNvPr id="7" name="Text 5"/>
          <p:cNvSpPr txBox="1"/>
          <p:nvPr/>
        </p:nvSpPr>
        <p:spPr>
          <a:xfrm>
            <a:off x="868680" y="3063240"/>
            <a:ext cx="2875178" cy="1371600"/>
          </a:xfrm>
          <a:prstGeom prst="rect">
            <a:avLst/>
          </a:prstGeom>
          <a:noFill/>
          <a:ln/>
        </p:spPr>
        <p:txBody>
          <a:bodyPr wrap="square" lIns="0" tIns="0" rIns="0" bIns="0" rtlCol="0" anchor="t"/>
          <a:lstStyle/>
          <a:p>
            <a:pPr indent="0" marL="0">
              <a:buNone/>
            </a:pPr>
            <a:r>
              <a:rPr lang="en-US" sz="1800" dirty="0">
                <a:solidFill>
                  <a:schemeClr val="tx1"/>
                </a:solidFill>
              </a:rPr>
              <a:t>Analysts need current OLTP data, but heavy queries must not load the operational database.</a:t>
            </a:r>
            <a:endParaRPr lang="en-US" sz="1800" dirty="0"/>
          </a:p>
        </p:txBody>
      </p:sp>
      <p:sp>
        <p:nvSpPr>
          <p:cNvPr id="8" name="problem-card-2"/>
          <p:cNvSpPr/>
          <p:nvPr/>
        </p:nvSpPr>
        <p:spPr>
          <a:xfrm>
            <a:off x="4338218" y="1463040"/>
            <a:ext cx="3515258" cy="3108960"/>
          </a:xfrm>
          <a:prstGeom prst="roundRect">
            <a:avLst>
              <a:gd name="adj" fmla="val 3529"/>
            </a:avLst>
          </a:prstGeom>
          <a:solidFill>
            <a:schemeClr val="bg2"/>
          </a:solidFill>
          <a:ln/>
        </p:spPr>
      </p:sp>
      <p:sp>
        <p:nvSpPr>
          <p:cNvPr id="9" name="problem-num-2"/>
          <p:cNvSpPr/>
          <p:nvPr/>
        </p:nvSpPr>
        <p:spPr>
          <a:xfrm>
            <a:off x="4658258" y="1737360"/>
            <a:ext cx="548640" cy="548640"/>
          </a:xfrm>
          <a:prstGeom prst="ellipse">
            <a:avLst/>
          </a:prstGeom>
          <a:solidFill>
            <a:schemeClr val="accent1"/>
          </a:solidFill>
          <a:ln/>
        </p:spPr>
      </p:sp>
      <p:sp>
        <p:nvSpPr>
          <p:cNvPr id="10" name="Text 8"/>
          <p:cNvSpPr txBox="1"/>
          <p:nvPr/>
        </p:nvSpPr>
        <p:spPr>
          <a:xfrm>
            <a:off x="4658258"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4658258" y="2514600"/>
            <a:ext cx="2875178" cy="457200"/>
          </a:xfrm>
          <a:prstGeom prst="rect">
            <a:avLst/>
          </a:prstGeom>
          <a:noFill/>
          <a:ln/>
        </p:spPr>
        <p:txBody>
          <a:bodyPr wrap="square" lIns="0" tIns="0" rIns="0" bIns="0" rtlCol="0" anchor="t"/>
          <a:lstStyle/>
          <a:p>
            <a:pPr indent="0" marL="0">
              <a:buNone/>
            </a:pPr>
            <a:r>
              <a:rPr lang="en-US" sz="2200" b="1" dirty="0">
                <a:solidFill>
                  <a:schemeClr val="tx1"/>
                </a:solidFill>
              </a:rPr>
              <a:t>Batch ETL is stale</a:t>
            </a:r>
            <a:endParaRPr lang="en-US" sz="2200" dirty="0"/>
          </a:p>
        </p:txBody>
      </p:sp>
      <p:sp>
        <p:nvSpPr>
          <p:cNvPr id="12" name="Text 10"/>
          <p:cNvSpPr txBox="1"/>
          <p:nvPr/>
        </p:nvSpPr>
        <p:spPr>
          <a:xfrm>
            <a:off x="4658258" y="3063240"/>
            <a:ext cx="2875178" cy="1371600"/>
          </a:xfrm>
          <a:prstGeom prst="rect">
            <a:avLst/>
          </a:prstGeom>
          <a:noFill/>
          <a:ln/>
        </p:spPr>
        <p:txBody>
          <a:bodyPr wrap="square" lIns="0" tIns="0" rIns="0" bIns="0" rtlCol="0" anchor="t"/>
          <a:lstStyle/>
          <a:p>
            <a:pPr indent="0" marL="0">
              <a:buNone/>
            </a:pPr>
            <a:r>
              <a:rPr lang="en-US" sz="1800" dirty="0">
                <a:solidFill>
                  <a:schemeClr val="tx1"/>
                </a:solidFill>
              </a:rPr>
              <a:t>Nightly ETL leaves reports out of date and copies whole tables on every run.</a:t>
            </a:r>
            <a:endParaRPr lang="en-US" sz="1800" dirty="0"/>
          </a:p>
        </p:txBody>
      </p:sp>
      <p:sp>
        <p:nvSpPr>
          <p:cNvPr id="13" name="problem-card-3"/>
          <p:cNvSpPr/>
          <p:nvPr/>
        </p:nvSpPr>
        <p:spPr>
          <a:xfrm>
            <a:off x="8127797" y="1463040"/>
            <a:ext cx="3515258" cy="3108960"/>
          </a:xfrm>
          <a:prstGeom prst="roundRect">
            <a:avLst>
              <a:gd name="adj" fmla="val 3529"/>
            </a:avLst>
          </a:prstGeom>
          <a:solidFill>
            <a:schemeClr val="accent1"/>
          </a:solidFill>
          <a:ln/>
        </p:spPr>
      </p:sp>
      <p:sp>
        <p:nvSpPr>
          <p:cNvPr id="14" name="problem-num-3"/>
          <p:cNvSpPr/>
          <p:nvPr/>
        </p:nvSpPr>
        <p:spPr>
          <a:xfrm>
            <a:off x="8447837" y="1737360"/>
            <a:ext cx="548640" cy="548640"/>
          </a:xfrm>
          <a:prstGeom prst="ellipse">
            <a:avLst/>
          </a:prstGeom>
          <a:solidFill>
            <a:schemeClr val="bg1"/>
          </a:solidFill>
          <a:ln/>
        </p:spPr>
      </p:sp>
      <p:sp>
        <p:nvSpPr>
          <p:cNvPr id="15" name="Text 13"/>
          <p:cNvSpPr txBox="1"/>
          <p:nvPr/>
        </p:nvSpPr>
        <p:spPr>
          <a:xfrm>
            <a:off x="8447837" y="1737360"/>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6" name="Text 14"/>
          <p:cNvSpPr txBox="1"/>
          <p:nvPr/>
        </p:nvSpPr>
        <p:spPr>
          <a:xfrm>
            <a:off x="8447837" y="2514600"/>
            <a:ext cx="2875178" cy="457200"/>
          </a:xfrm>
          <a:prstGeom prst="rect">
            <a:avLst/>
          </a:prstGeom>
          <a:noFill/>
          <a:ln/>
        </p:spPr>
        <p:txBody>
          <a:bodyPr wrap="square" lIns="0" tIns="0" rIns="0" bIns="0" rtlCol="0" anchor="t"/>
          <a:lstStyle/>
          <a:p>
            <a:pPr indent="0" marL="0">
              <a:buNone/>
            </a:pPr>
            <a:r>
              <a:rPr lang="en-US" sz="2200" b="1" dirty="0">
                <a:solidFill>
                  <a:schemeClr val="bg1"/>
                </a:solidFill>
              </a:rPr>
              <a:t>What we need</a:t>
            </a:r>
            <a:endParaRPr lang="en-US" sz="2200" dirty="0"/>
          </a:p>
        </p:txBody>
      </p:sp>
      <p:sp>
        <p:nvSpPr>
          <p:cNvPr id="17" name="Text 15"/>
          <p:cNvSpPr txBox="1"/>
          <p:nvPr/>
        </p:nvSpPr>
        <p:spPr>
          <a:xfrm>
            <a:off x="8447837" y="3063240"/>
            <a:ext cx="2875178" cy="1371600"/>
          </a:xfrm>
          <a:prstGeom prst="rect">
            <a:avLst/>
          </a:prstGeom>
          <a:noFill/>
          <a:ln/>
        </p:spPr>
        <p:txBody>
          <a:bodyPr wrap="square" lIns="0" tIns="0" rIns="0" bIns="0" rtlCol="0" anchor="t"/>
          <a:lstStyle/>
          <a:p>
            <a:pPr indent="0" marL="0">
              <a:buNone/>
            </a:pPr>
            <a:r>
              <a:rPr lang="en-US" sz="1800" dirty="0">
                <a:solidFill>
                  <a:schemeClr val="bg1"/>
                </a:solidFill>
              </a:rPr>
              <a:t>Fresh, correct and cheap-to-query history: stream only the changes, keep every version.</a:t>
            </a:r>
            <a:endParaRPr lang="en-US" sz="1800" dirty="0"/>
          </a:p>
        </p:txBody>
      </p:sp>
      <p:sp>
        <p:nvSpPr>
          <p:cNvPr id="18" name="Text 16"/>
          <p:cNvSpPr txBox="1"/>
          <p:nvPr/>
        </p:nvSpPr>
        <p:spPr>
          <a:xfrm>
            <a:off x="548640" y="4983480"/>
            <a:ext cx="11094415" cy="822960"/>
          </a:xfrm>
          <a:prstGeom prst="rect">
            <a:avLst/>
          </a:prstGeom>
          <a:noFill/>
          <a:ln/>
        </p:spPr>
        <p:txBody>
          <a:bodyPr wrap="square" lIns="0" tIns="0" rIns="0" bIns="0" rtlCol="0" anchor="t"/>
          <a:lstStyle/>
          <a:p>
            <a:pPr indent="0" marL="0">
              <a:buNone/>
            </a:pPr>
            <a:r>
              <a:rPr lang="en-US" sz="2000" i="1" dirty="0">
                <a:solidFill>
                  <a:schemeClr val="tx2"/>
                </a:solidFill>
              </a:rPr>
              <a:t>Our answer: capture every committed change with CDC and merge it into open Iceberg tables that any SQL engine can read.</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Goals and evaluation metrics</a:t>
            </a:r>
            <a:endParaRPr lang="en-US" sz="3400" dirty="0"/>
          </a:p>
        </p:txBody>
      </p:sp>
      <p:graphicFrame>
        <p:nvGraphicFramePr>
          <p:cNvPr id="4" name="metrics-table"/>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2514600"/>
                <a:gridCol w="4526280"/>
              </a:tblGrid>
              <a:tr h="566928">
                <a:tc>
                  <a:txBody>
                    <a:bodyPr/>
                    <a:lstStyle/>
                    <a:p>
                      <a:pPr indent="0" marL="0">
                        <a:buNone/>
                      </a:pPr>
                      <a:r>
                        <a:rPr lang="en-US" sz="1800" b="1" dirty="0">
                          <a:solidFill>
                            <a:schemeClr val="bg1"/>
                          </a:solidFill>
                        </a:rPr>
                        <a:t>Goal</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800" b="1" dirty="0">
                          <a:solidFill>
                            <a:schemeClr val="bg1"/>
                          </a:solidFill>
                        </a:rPr>
                        <a:t>How we measure it</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r>
              <a:tr h="566928">
                <a:tc>
                  <a:txBody>
                    <a:bodyPr/>
                    <a:lstStyle/>
                    <a:p>
                      <a:pPr indent="0" marL="0">
                        <a:buNone/>
                      </a:pPr>
                      <a:r>
                        <a:rPr lang="en-US" sz="1800" b="1" dirty="0">
                          <a:solidFill>
                            <a:schemeClr val="tx1"/>
                          </a:solidFill>
                        </a:rPr>
                        <a:t>CDC freshness</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Commit → visible in Trino (p50 / p95)</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800" b="1" dirty="0">
                          <a:solidFill>
                            <a:schemeClr val="tx1"/>
                          </a:solidFill>
                        </a:rPr>
                        <a:t>Ingestion throughput</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Rows/s initial load, records/s per batch</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800" b="1" dirty="0">
                          <a:solidFill>
                            <a:schemeClr val="tx1"/>
                          </a:solidFill>
                        </a:rPr>
                        <a:t>Query latency</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8 queries, median of 5 runs, before/after</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800" b="1" dirty="0">
                          <a:solidFill>
                            <a:schemeClr val="tx1"/>
                          </a:solidFill>
                        </a:rPr>
                        <a:t>Small files and storage</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File counts, avg file size, MinIO bytes</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800" b="1" dirty="0">
                          <a:solidFill>
                            <a:schemeClr val="tx1"/>
                          </a:solidFill>
                        </a:rPr>
                        <a:t>Correctness</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Row counts + checksum() vs PostgreSQL</a:t>
                      </a:r>
                      <a:endParaRPr lang="en-US" sz="18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7863840" y="1371600"/>
            <a:ext cx="3779215" cy="411480"/>
          </a:xfrm>
          <a:prstGeom prst="rect">
            <a:avLst/>
          </a:prstGeom>
          <a:noFill/>
          <a:ln/>
        </p:spPr>
        <p:txBody>
          <a:bodyPr wrap="square" lIns="0" tIns="0" rIns="0" bIns="0" rtlCol="0" anchor="t"/>
          <a:lstStyle/>
          <a:p>
            <a:pPr indent="0" marL="0">
              <a:buNone/>
            </a:pPr>
            <a:r>
              <a:rPr lang="en-US" sz="2200" b="1" dirty="0">
                <a:solidFill>
                  <a:schemeClr val="tx1"/>
                </a:solidFill>
              </a:rPr>
              <a:t>Datasets</a:t>
            </a:r>
            <a:endParaRPr lang="en-US" sz="2200" dirty="0"/>
          </a:p>
        </p:txBody>
      </p:sp>
      <p:sp>
        <p:nvSpPr>
          <p:cNvPr id="5" name="dataset-tpch"/>
          <p:cNvSpPr/>
          <p:nvPr/>
        </p:nvSpPr>
        <p:spPr>
          <a:xfrm>
            <a:off x="7863840" y="1874520"/>
            <a:ext cx="3779215" cy="1783080"/>
          </a:xfrm>
          <a:prstGeom prst="roundRect">
            <a:avLst>
              <a:gd name="adj" fmla="val 6154"/>
            </a:avLst>
          </a:prstGeom>
          <a:solidFill>
            <a:schemeClr val="bg2"/>
          </a:solidFill>
          <a:ln/>
        </p:spPr>
      </p:sp>
      <p:sp>
        <p:nvSpPr>
          <p:cNvPr id="6" name="Text 3"/>
          <p:cNvSpPr txBox="1"/>
          <p:nvPr/>
        </p:nvSpPr>
        <p:spPr>
          <a:xfrm>
            <a:off x="8138160" y="2057400"/>
            <a:ext cx="3230575" cy="1463040"/>
          </a:xfrm>
          <a:prstGeom prst="rect">
            <a:avLst/>
          </a:prstGeom>
          <a:noFill/>
          <a:ln/>
        </p:spPr>
        <p:txBody>
          <a:bodyPr wrap="square" lIns="0" tIns="0" rIns="0" bIns="0" rtlCol="0" anchor="t"/>
          <a:lstStyle/>
          <a:p>
            <a:pPr indent="0" marL="0">
              <a:buNone/>
            </a:pPr>
            <a:r>
              <a:rPr lang="en-US" sz="2000" b="1" dirty="0">
                <a:solidFill>
                  <a:schemeClr val="tx1"/>
                </a:solidFill>
              </a:rPr>
              <a:t>TPC-H sf1</a:t>
            </a:r>
            <a:endParaRPr lang="en-US" sz="1800" dirty="0"/>
          </a:p>
          <a:p>
            <a:pPr indent="0" marL="0">
              <a:buNone/>
            </a:pPr>
            <a:r>
              <a:rPr lang="en-US" sz="1800" dirty="0">
                <a:solidFill>
                  <a:schemeClr val="tx1"/>
                </a:solidFill>
              </a:rPr>
              <a:t>1,650,030 rows: orders 1.5M, customer 150k, nation, region</a:t>
            </a:r>
            <a:endParaRPr lang="en-US" sz="1800" dirty="0"/>
          </a:p>
        </p:txBody>
      </p:sp>
      <p:sp>
        <p:nvSpPr>
          <p:cNvPr id="7" name="dataset-oltp"/>
          <p:cNvSpPr/>
          <p:nvPr/>
        </p:nvSpPr>
        <p:spPr>
          <a:xfrm>
            <a:off x="7863840" y="3840480"/>
            <a:ext cx="3779215" cy="1783080"/>
          </a:xfrm>
          <a:prstGeom prst="roundRect">
            <a:avLst>
              <a:gd name="adj" fmla="val 6154"/>
            </a:avLst>
          </a:prstGeom>
          <a:solidFill>
            <a:schemeClr val="bg2"/>
          </a:solidFill>
          <a:ln/>
        </p:spPr>
      </p:sp>
      <p:sp>
        <p:nvSpPr>
          <p:cNvPr id="8" name="Text 5"/>
          <p:cNvSpPr txBox="1"/>
          <p:nvPr/>
        </p:nvSpPr>
        <p:spPr>
          <a:xfrm>
            <a:off x="8138160" y="4023360"/>
            <a:ext cx="3230575" cy="1463040"/>
          </a:xfrm>
          <a:prstGeom prst="rect">
            <a:avLst/>
          </a:prstGeom>
          <a:noFill/>
          <a:ln/>
        </p:spPr>
        <p:txBody>
          <a:bodyPr wrap="square" lIns="0" tIns="0" rIns="0" bIns="0" rtlCol="0" anchor="t"/>
          <a:lstStyle/>
          <a:p>
            <a:pPr indent="0" marL="0">
              <a:buNone/>
            </a:pPr>
            <a:r>
              <a:rPr lang="en-US" sz="2000" b="1" dirty="0">
                <a:solidFill>
                  <a:schemeClr val="tx1"/>
                </a:solidFill>
              </a:rPr>
              <a:t>Synthetic OLTP workload</a:t>
            </a:r>
            <a:endParaRPr lang="en-US" sz="1800" dirty="0"/>
          </a:p>
          <a:p>
            <a:pPr indent="0" marL="0">
              <a:buNone/>
            </a:pPr>
            <a:r>
              <a:rPr lang="en-US" sz="1800" dirty="0">
                <a:solidFill>
                  <a:schemeClr val="tx1"/>
                </a:solidFill>
              </a:rPr>
              <a:t>Continuous inserts, updates and deletes against live tables</a:t>
            </a:r>
            <a:endParaRPr lang="en-US" sz="1800" dirty="0"/>
          </a:p>
        </p:txBody>
      </p:sp>
      <p:sp>
        <p:nvSpPr>
          <p:cNvPr id="9" name="Text 6"/>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README.md (evaluation metrics), results/ingest_load.json</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Solution architecture</a:t>
            </a:r>
            <a:endParaRPr lang="en-US" sz="3400" dirty="0"/>
          </a:p>
        </p:txBody>
      </p:sp>
      <p:sp>
        <p:nvSpPr>
          <p:cNvPr id="3" name="node-PostgreSQL 16"/>
          <p:cNvSpPr/>
          <p:nvPr/>
        </p:nvSpPr>
        <p:spPr>
          <a:xfrm>
            <a:off x="548640" y="1417320"/>
            <a:ext cx="1920240" cy="960120"/>
          </a:xfrm>
          <a:prstGeom prst="roundRect">
            <a:avLst>
              <a:gd name="adj" fmla="val 9524"/>
            </a:avLst>
          </a:prstGeom>
          <a:solidFill>
            <a:schemeClr val="bg2"/>
          </a:solidFill>
          <a:ln/>
        </p:spPr>
      </p:sp>
      <p:sp>
        <p:nvSpPr>
          <p:cNvPr id="4" name="Text 2"/>
          <p:cNvSpPr txBox="1"/>
          <p:nvPr/>
        </p:nvSpPr>
        <p:spPr>
          <a:xfrm>
            <a:off x="640080" y="141732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PostgreSQL 16</a:t>
            </a:r>
            <a:endParaRPr lang="en-US" sz="1800" dirty="0"/>
          </a:p>
          <a:p>
            <a:pPr algn="ctr" indent="0" marL="0">
              <a:buNone/>
            </a:pPr>
            <a:r>
              <a:rPr lang="en-US" sz="1400" dirty="0">
                <a:solidFill>
                  <a:schemeClr val="tx1"/>
                </a:solidFill>
              </a:rPr>
              <a:t>logical WAL</a:t>
            </a:r>
            <a:endParaRPr lang="en-US" sz="1800" dirty="0"/>
          </a:p>
        </p:txBody>
      </p:sp>
      <p:sp>
        <p:nvSpPr>
          <p:cNvPr id="5" name="node-Debezium"/>
          <p:cNvSpPr/>
          <p:nvPr/>
        </p:nvSpPr>
        <p:spPr>
          <a:xfrm>
            <a:off x="2834640" y="1417320"/>
            <a:ext cx="1920240" cy="960120"/>
          </a:xfrm>
          <a:prstGeom prst="roundRect">
            <a:avLst>
              <a:gd name="adj" fmla="val 9524"/>
            </a:avLst>
          </a:prstGeom>
          <a:solidFill>
            <a:schemeClr val="bg2"/>
          </a:solidFill>
          <a:ln/>
        </p:spPr>
      </p:sp>
      <p:sp>
        <p:nvSpPr>
          <p:cNvPr id="6" name="Text 4"/>
          <p:cNvSpPr txBox="1"/>
          <p:nvPr/>
        </p:nvSpPr>
        <p:spPr>
          <a:xfrm>
            <a:off x="2926080" y="141732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Debezium</a:t>
            </a:r>
            <a:endParaRPr lang="en-US" sz="1800" dirty="0"/>
          </a:p>
          <a:p>
            <a:pPr algn="ctr" indent="0" marL="0">
              <a:buNone/>
            </a:pPr>
            <a:r>
              <a:rPr lang="en-US" sz="1400" dirty="0">
                <a:solidFill>
                  <a:schemeClr val="tx1"/>
                </a:solidFill>
              </a:rPr>
              <a:t>Kafka Connect</a:t>
            </a:r>
            <a:endParaRPr lang="en-US" sz="1800" dirty="0"/>
          </a:p>
        </p:txBody>
      </p:sp>
      <p:sp>
        <p:nvSpPr>
          <p:cNvPr id="7" name="node-Kafka (KRaft)"/>
          <p:cNvSpPr/>
          <p:nvPr/>
        </p:nvSpPr>
        <p:spPr>
          <a:xfrm>
            <a:off x="5120640" y="1417320"/>
            <a:ext cx="1920240" cy="960120"/>
          </a:xfrm>
          <a:prstGeom prst="roundRect">
            <a:avLst>
              <a:gd name="adj" fmla="val 9524"/>
            </a:avLst>
          </a:prstGeom>
          <a:solidFill>
            <a:schemeClr val="bg2"/>
          </a:solidFill>
          <a:ln/>
        </p:spPr>
      </p:sp>
      <p:sp>
        <p:nvSpPr>
          <p:cNvPr id="8" name="Text 6"/>
          <p:cNvSpPr txBox="1"/>
          <p:nvPr/>
        </p:nvSpPr>
        <p:spPr>
          <a:xfrm>
            <a:off x="5212080" y="141732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Kafka (KRaft)</a:t>
            </a:r>
            <a:endParaRPr lang="en-US" sz="1800" dirty="0"/>
          </a:p>
          <a:p>
            <a:pPr algn="ctr" indent="0" marL="0">
              <a:buNone/>
            </a:pPr>
            <a:r>
              <a:rPr lang="en-US" sz="1400" dirty="0">
                <a:solidFill>
                  <a:schemeClr val="tx1"/>
                </a:solidFill>
              </a:rPr>
              <a:t>topic per table</a:t>
            </a:r>
            <a:endParaRPr lang="en-US" sz="1800" dirty="0"/>
          </a:p>
        </p:txBody>
      </p:sp>
      <p:sp>
        <p:nvSpPr>
          <p:cNvPr id="9" name="node-Spark Streaming"/>
          <p:cNvSpPr/>
          <p:nvPr/>
        </p:nvSpPr>
        <p:spPr>
          <a:xfrm>
            <a:off x="7406640" y="1417320"/>
            <a:ext cx="1920240" cy="960120"/>
          </a:xfrm>
          <a:prstGeom prst="roundRect">
            <a:avLst>
              <a:gd name="adj" fmla="val 9524"/>
            </a:avLst>
          </a:prstGeom>
          <a:solidFill>
            <a:schemeClr val="bg2"/>
          </a:solidFill>
          <a:ln/>
        </p:spPr>
      </p:sp>
      <p:sp>
        <p:nvSpPr>
          <p:cNvPr id="10" name="Text 8"/>
          <p:cNvSpPr txBox="1"/>
          <p:nvPr/>
        </p:nvSpPr>
        <p:spPr>
          <a:xfrm>
            <a:off x="7498080" y="141732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Spark Streaming</a:t>
            </a:r>
            <a:endParaRPr lang="en-US" sz="1800" dirty="0"/>
          </a:p>
          <a:p>
            <a:pPr algn="ctr" indent="0" marL="0">
              <a:buNone/>
            </a:pPr>
            <a:r>
              <a:rPr lang="en-US" sz="1400" dirty="0">
                <a:solidFill>
                  <a:schemeClr val="tx1"/>
                </a:solidFill>
              </a:rPr>
              <a:t>foreachBatch MERGE</a:t>
            </a:r>
            <a:endParaRPr lang="en-US" sz="1800" dirty="0"/>
          </a:p>
        </p:txBody>
      </p:sp>
      <p:sp>
        <p:nvSpPr>
          <p:cNvPr id="11" name="Shape 9"/>
          <p:cNvSpPr/>
          <p:nvPr/>
        </p:nvSpPr>
        <p:spPr>
          <a:xfrm>
            <a:off x="2514600" y="1897380"/>
            <a:ext cx="274320" cy="0"/>
          </a:xfrm>
          <a:prstGeom prst="line">
            <a:avLst/>
          </a:prstGeom>
          <a:noFill/>
          <a:ln w="25400">
            <a:solidFill>
              <a:schemeClr val="tx2"/>
            </a:solidFill>
            <a:prstDash val="solid"/>
            <a:tailEnd type="triangle"/>
          </a:ln>
        </p:spPr>
      </p:sp>
      <p:sp>
        <p:nvSpPr>
          <p:cNvPr id="12" name="Shape 10"/>
          <p:cNvSpPr/>
          <p:nvPr/>
        </p:nvSpPr>
        <p:spPr>
          <a:xfrm>
            <a:off x="4800600" y="1897380"/>
            <a:ext cx="274320" cy="0"/>
          </a:xfrm>
          <a:prstGeom prst="line">
            <a:avLst/>
          </a:prstGeom>
          <a:noFill/>
          <a:ln w="25400">
            <a:solidFill>
              <a:schemeClr val="tx2"/>
            </a:solidFill>
            <a:prstDash val="solid"/>
            <a:tailEnd type="triangle"/>
          </a:ln>
        </p:spPr>
      </p:sp>
      <p:sp>
        <p:nvSpPr>
          <p:cNvPr id="13" name="Shape 11"/>
          <p:cNvSpPr/>
          <p:nvPr/>
        </p:nvSpPr>
        <p:spPr>
          <a:xfrm>
            <a:off x="7086600" y="1897380"/>
            <a:ext cx="274320" cy="0"/>
          </a:xfrm>
          <a:prstGeom prst="line">
            <a:avLst/>
          </a:prstGeom>
          <a:noFill/>
          <a:ln w="25400">
            <a:solidFill>
              <a:schemeClr val="tx2"/>
            </a:solidFill>
            <a:prstDash val="solid"/>
            <a:tailEnd type="triangle"/>
          </a:ln>
        </p:spPr>
      </p:sp>
      <p:sp>
        <p:nvSpPr>
          <p:cNvPr id="14" name="Shape 12"/>
          <p:cNvSpPr/>
          <p:nvPr/>
        </p:nvSpPr>
        <p:spPr>
          <a:xfrm>
            <a:off x="9372600" y="1897380"/>
            <a:ext cx="274320" cy="0"/>
          </a:xfrm>
          <a:prstGeom prst="line">
            <a:avLst/>
          </a:prstGeom>
          <a:noFill/>
          <a:ln w="25400">
            <a:solidFill>
              <a:schemeClr val="tx2"/>
            </a:solidFill>
            <a:prstDash val="solid"/>
            <a:tailEnd type="triangle"/>
          </a:ln>
        </p:spPr>
      </p:sp>
      <p:sp>
        <p:nvSpPr>
          <p:cNvPr id="15" name="node-Iceberg"/>
          <p:cNvSpPr/>
          <p:nvPr/>
        </p:nvSpPr>
        <p:spPr>
          <a:xfrm>
            <a:off x="9692640" y="1417320"/>
            <a:ext cx="2011680" cy="3017520"/>
          </a:xfrm>
          <a:prstGeom prst="roundRect">
            <a:avLst>
              <a:gd name="adj" fmla="val 4545"/>
            </a:avLst>
          </a:prstGeom>
          <a:solidFill>
            <a:schemeClr val="accent1"/>
          </a:solidFill>
          <a:ln/>
        </p:spPr>
      </p:sp>
      <p:sp>
        <p:nvSpPr>
          <p:cNvPr id="16" name="Text 14"/>
          <p:cNvSpPr txBox="1"/>
          <p:nvPr/>
        </p:nvSpPr>
        <p:spPr>
          <a:xfrm>
            <a:off x="9692640" y="1508760"/>
            <a:ext cx="2011680" cy="777240"/>
          </a:xfrm>
          <a:prstGeom prst="rect">
            <a:avLst/>
          </a:prstGeom>
          <a:noFill/>
          <a:ln/>
        </p:spPr>
        <p:txBody>
          <a:bodyPr wrap="square" lIns="0" tIns="0" rIns="0" bIns="0" rtlCol="0" anchor="ctr"/>
          <a:lstStyle/>
          <a:p>
            <a:pPr algn="ctr" indent="0" marL="0">
              <a:buNone/>
            </a:pPr>
            <a:r>
              <a:rPr lang="en-US" sz="1800" b="1" dirty="0">
                <a:solidFill>
                  <a:schemeClr val="bg1"/>
                </a:solidFill>
              </a:rPr>
              <a:t>Iceberg v2</a:t>
            </a:r>
            <a:endParaRPr lang="en-US" sz="1800" dirty="0"/>
          </a:p>
          <a:p>
            <a:pPr algn="ctr" indent="0" marL="0">
              <a:buNone/>
            </a:pPr>
            <a:r>
              <a:rPr lang="en-US" sz="1400" dirty="0">
                <a:solidFill>
                  <a:schemeClr val="bg1"/>
                </a:solidFill>
              </a:rPr>
              <a:t>merge-on-read</a:t>
            </a:r>
            <a:endParaRPr lang="en-US" sz="1800" dirty="0"/>
          </a:p>
        </p:txBody>
      </p:sp>
      <p:sp>
        <p:nvSpPr>
          <p:cNvPr id="17" name="iceberg-REST catalog"/>
          <p:cNvSpPr/>
          <p:nvPr/>
        </p:nvSpPr>
        <p:spPr>
          <a:xfrm>
            <a:off x="9829800" y="2423160"/>
            <a:ext cx="1737360" cy="822960"/>
          </a:xfrm>
          <a:prstGeom prst="roundRect">
            <a:avLst>
              <a:gd name="adj" fmla="val 8889"/>
            </a:avLst>
          </a:prstGeom>
          <a:solidFill>
            <a:schemeClr val="bg1"/>
          </a:solidFill>
          <a:ln/>
        </p:spPr>
      </p:sp>
      <p:sp>
        <p:nvSpPr>
          <p:cNvPr id="18" name="Text 16"/>
          <p:cNvSpPr txBox="1"/>
          <p:nvPr/>
        </p:nvSpPr>
        <p:spPr>
          <a:xfrm>
            <a:off x="9829800" y="2423160"/>
            <a:ext cx="1737360" cy="822960"/>
          </a:xfrm>
          <a:prstGeom prst="rect">
            <a:avLst/>
          </a:prstGeom>
          <a:noFill/>
          <a:ln/>
        </p:spPr>
        <p:txBody>
          <a:bodyPr wrap="square" lIns="0" tIns="0" rIns="0" bIns="0" rtlCol="0" anchor="ctr"/>
          <a:lstStyle/>
          <a:p>
            <a:pPr algn="ctr" indent="0" marL="0">
              <a:buNone/>
            </a:pPr>
            <a:r>
              <a:rPr lang="en-US" sz="1600" b="1" dirty="0">
                <a:solidFill>
                  <a:schemeClr val="tx1"/>
                </a:solidFill>
              </a:rPr>
              <a:t>REST catalog</a:t>
            </a:r>
            <a:endParaRPr lang="en-US" sz="1800" dirty="0"/>
          </a:p>
          <a:p>
            <a:pPr algn="ctr" indent="0" marL="0">
              <a:buNone/>
            </a:pPr>
            <a:r>
              <a:rPr lang="en-US" sz="1300" dirty="0">
                <a:solidFill>
                  <a:schemeClr val="tx1"/>
                </a:solidFill>
              </a:rPr>
              <a:t>JDBC store in PostgreSQL</a:t>
            </a:r>
            <a:endParaRPr lang="en-US" sz="1800" dirty="0"/>
          </a:p>
        </p:txBody>
      </p:sp>
      <p:sp>
        <p:nvSpPr>
          <p:cNvPr id="19" name="iceberg-MinIO (S3)"/>
          <p:cNvSpPr/>
          <p:nvPr/>
        </p:nvSpPr>
        <p:spPr>
          <a:xfrm>
            <a:off x="9829800" y="3383280"/>
            <a:ext cx="1737360" cy="822960"/>
          </a:xfrm>
          <a:prstGeom prst="roundRect">
            <a:avLst>
              <a:gd name="adj" fmla="val 8889"/>
            </a:avLst>
          </a:prstGeom>
          <a:solidFill>
            <a:schemeClr val="bg1"/>
          </a:solidFill>
          <a:ln/>
        </p:spPr>
      </p:sp>
      <p:sp>
        <p:nvSpPr>
          <p:cNvPr id="20" name="Text 18"/>
          <p:cNvSpPr txBox="1"/>
          <p:nvPr/>
        </p:nvSpPr>
        <p:spPr>
          <a:xfrm>
            <a:off x="9829800" y="3383280"/>
            <a:ext cx="1737360" cy="822960"/>
          </a:xfrm>
          <a:prstGeom prst="rect">
            <a:avLst/>
          </a:prstGeom>
          <a:noFill/>
          <a:ln/>
        </p:spPr>
        <p:txBody>
          <a:bodyPr wrap="square" lIns="0" tIns="0" rIns="0" bIns="0" rtlCol="0" anchor="ctr"/>
          <a:lstStyle/>
          <a:p>
            <a:pPr algn="ctr" indent="0" marL="0">
              <a:buNone/>
            </a:pPr>
            <a:r>
              <a:rPr lang="en-US" sz="1600" b="1" dirty="0">
                <a:solidFill>
                  <a:schemeClr val="tx1"/>
                </a:solidFill>
              </a:rPr>
              <a:t>MinIO (S3)</a:t>
            </a:r>
            <a:endParaRPr lang="en-US" sz="1800" dirty="0"/>
          </a:p>
          <a:p>
            <a:pPr algn="ctr" indent="0" marL="0">
              <a:buNone/>
            </a:pPr>
            <a:r>
              <a:rPr lang="en-US" sz="1300" dirty="0">
                <a:solidFill>
                  <a:schemeClr val="tx1"/>
                </a:solidFill>
              </a:rPr>
              <a:t>data + metadata files</a:t>
            </a:r>
            <a:endParaRPr lang="en-US" sz="1800" dirty="0"/>
          </a:p>
        </p:txBody>
      </p:sp>
      <p:sp>
        <p:nvSpPr>
          <p:cNvPr id="21" name="node-Airflow"/>
          <p:cNvSpPr/>
          <p:nvPr/>
        </p:nvSpPr>
        <p:spPr>
          <a:xfrm>
            <a:off x="5120640" y="3246120"/>
            <a:ext cx="1920240" cy="960120"/>
          </a:xfrm>
          <a:prstGeom prst="roundRect">
            <a:avLst>
              <a:gd name="adj" fmla="val 9524"/>
            </a:avLst>
          </a:prstGeom>
          <a:solidFill>
            <a:schemeClr val="bg2"/>
          </a:solidFill>
          <a:ln/>
        </p:spPr>
      </p:sp>
      <p:sp>
        <p:nvSpPr>
          <p:cNvPr id="22" name="Text 20"/>
          <p:cNvSpPr txBox="1"/>
          <p:nvPr/>
        </p:nvSpPr>
        <p:spPr>
          <a:xfrm>
            <a:off x="5212080" y="324612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Airflow</a:t>
            </a:r>
            <a:endParaRPr lang="en-US" sz="1800" dirty="0"/>
          </a:p>
          <a:p>
            <a:pPr algn="ctr" indent="0" marL="0">
              <a:buNone/>
            </a:pPr>
            <a:r>
              <a:rPr lang="en-US" sz="1400" dirty="0">
                <a:solidFill>
                  <a:schemeClr val="tx1"/>
                </a:solidFill>
              </a:rPr>
              <a:t>maintenance DAGs</a:t>
            </a:r>
            <a:endParaRPr lang="en-US" sz="1800" dirty="0"/>
          </a:p>
        </p:txBody>
      </p:sp>
      <p:sp>
        <p:nvSpPr>
          <p:cNvPr id="23" name="node-Spark jobs"/>
          <p:cNvSpPr/>
          <p:nvPr/>
        </p:nvSpPr>
        <p:spPr>
          <a:xfrm>
            <a:off x="7406640" y="3246120"/>
            <a:ext cx="1920240" cy="960120"/>
          </a:xfrm>
          <a:prstGeom prst="roundRect">
            <a:avLst>
              <a:gd name="adj" fmla="val 9524"/>
            </a:avLst>
          </a:prstGeom>
          <a:solidFill>
            <a:schemeClr val="bg2"/>
          </a:solidFill>
          <a:ln/>
        </p:spPr>
      </p:sp>
      <p:sp>
        <p:nvSpPr>
          <p:cNvPr id="24" name="Text 22"/>
          <p:cNvSpPr txBox="1"/>
          <p:nvPr/>
        </p:nvSpPr>
        <p:spPr>
          <a:xfrm>
            <a:off x="7498080" y="324612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Spark jobs</a:t>
            </a:r>
            <a:endParaRPr lang="en-US" sz="1800" dirty="0"/>
          </a:p>
          <a:p>
            <a:pPr algn="ctr" indent="0" marL="0">
              <a:buNone/>
            </a:pPr>
            <a:r>
              <a:rPr lang="en-US" sz="1400" dirty="0">
                <a:solidFill>
                  <a:schemeClr val="tx1"/>
                </a:solidFill>
              </a:rPr>
              <a:t>compact · expire · purge</a:t>
            </a:r>
            <a:endParaRPr lang="en-US" sz="1800" dirty="0"/>
          </a:p>
        </p:txBody>
      </p:sp>
      <p:sp>
        <p:nvSpPr>
          <p:cNvPr id="25" name="Shape 23"/>
          <p:cNvSpPr/>
          <p:nvPr/>
        </p:nvSpPr>
        <p:spPr>
          <a:xfrm>
            <a:off x="7086600" y="3726180"/>
            <a:ext cx="274320" cy="0"/>
          </a:xfrm>
          <a:prstGeom prst="line">
            <a:avLst/>
          </a:prstGeom>
          <a:noFill/>
          <a:ln w="25400">
            <a:solidFill>
              <a:schemeClr val="tx2"/>
            </a:solidFill>
            <a:prstDash val="solid"/>
            <a:tailEnd type="triangle"/>
          </a:ln>
        </p:spPr>
      </p:sp>
      <p:sp>
        <p:nvSpPr>
          <p:cNvPr id="26" name="Shape 24"/>
          <p:cNvSpPr/>
          <p:nvPr/>
        </p:nvSpPr>
        <p:spPr>
          <a:xfrm>
            <a:off x="9372600" y="3726180"/>
            <a:ext cx="274320" cy="0"/>
          </a:xfrm>
          <a:prstGeom prst="line">
            <a:avLst/>
          </a:prstGeom>
          <a:noFill/>
          <a:ln w="25400">
            <a:solidFill>
              <a:schemeClr val="tx2"/>
            </a:solidFill>
            <a:prstDash val="solid"/>
            <a:tailEnd type="triangle"/>
          </a:ln>
        </p:spPr>
      </p:sp>
      <p:sp>
        <p:nvSpPr>
          <p:cNvPr id="27" name="node-Trino 476"/>
          <p:cNvSpPr/>
          <p:nvPr/>
        </p:nvSpPr>
        <p:spPr>
          <a:xfrm>
            <a:off x="9738360" y="4892040"/>
            <a:ext cx="1920240" cy="960120"/>
          </a:xfrm>
          <a:prstGeom prst="roundRect">
            <a:avLst>
              <a:gd name="adj" fmla="val 9524"/>
            </a:avLst>
          </a:prstGeom>
          <a:solidFill>
            <a:schemeClr val="bg2"/>
          </a:solidFill>
          <a:ln/>
        </p:spPr>
      </p:sp>
      <p:sp>
        <p:nvSpPr>
          <p:cNvPr id="28" name="Text 26"/>
          <p:cNvSpPr txBox="1"/>
          <p:nvPr/>
        </p:nvSpPr>
        <p:spPr>
          <a:xfrm>
            <a:off x="9829800" y="489204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Trino 476</a:t>
            </a:r>
            <a:endParaRPr lang="en-US" sz="1800" dirty="0"/>
          </a:p>
          <a:p>
            <a:pPr algn="ctr" indent="0" marL="0">
              <a:buNone/>
            </a:pPr>
            <a:r>
              <a:rPr lang="en-US" sz="1400" dirty="0">
                <a:solidFill>
                  <a:schemeClr val="tx1"/>
                </a:solidFill>
              </a:rPr>
              <a:t>SQL + time travel</a:t>
            </a:r>
            <a:endParaRPr lang="en-US" sz="1800" dirty="0"/>
          </a:p>
        </p:txBody>
      </p:sp>
      <p:sp>
        <p:nvSpPr>
          <p:cNvPr id="29" name="Shape 27"/>
          <p:cNvSpPr/>
          <p:nvPr/>
        </p:nvSpPr>
        <p:spPr>
          <a:xfrm flipV="1">
            <a:off x="10698480" y="4846320"/>
            <a:ext cx="0" cy="-365760"/>
          </a:xfrm>
          <a:prstGeom prst="line">
            <a:avLst/>
          </a:prstGeom>
          <a:noFill/>
          <a:ln w="25400">
            <a:solidFill>
              <a:schemeClr val="tx2"/>
            </a:solidFill>
            <a:prstDash val="solid"/>
            <a:tailEnd type="triangle"/>
          </a:ln>
        </p:spPr>
      </p:sp>
      <p:sp>
        <p:nvSpPr>
          <p:cNvPr id="30" name="Text 28"/>
          <p:cNvSpPr txBox="1"/>
          <p:nvPr/>
        </p:nvSpPr>
        <p:spPr>
          <a:xfrm>
            <a:off x="548640" y="4480560"/>
            <a:ext cx="2743200" cy="320040"/>
          </a:xfrm>
          <a:prstGeom prst="rect">
            <a:avLst/>
          </a:prstGeom>
          <a:noFill/>
          <a:ln/>
        </p:spPr>
        <p:txBody>
          <a:bodyPr wrap="square" lIns="0" tIns="0" rIns="0" bIns="0" rtlCol="0" anchor="t"/>
          <a:lstStyle/>
          <a:p>
            <a:pPr indent="0" marL="0">
              <a:buNone/>
            </a:pPr>
            <a:r>
              <a:rPr lang="en-US" sz="1600" b="1" dirty="0">
                <a:solidFill>
                  <a:schemeClr val="tx2"/>
                </a:solidFill>
              </a:rPr>
              <a:t>Monitoring</a:t>
            </a:r>
            <a:endParaRPr lang="en-US" sz="1600" dirty="0"/>
          </a:p>
        </p:txBody>
      </p:sp>
      <p:sp>
        <p:nvSpPr>
          <p:cNvPr id="31" name="node-Exporter"/>
          <p:cNvSpPr/>
          <p:nvPr/>
        </p:nvSpPr>
        <p:spPr>
          <a:xfrm>
            <a:off x="548640" y="4892040"/>
            <a:ext cx="1920240" cy="960120"/>
          </a:xfrm>
          <a:prstGeom prst="roundRect">
            <a:avLst>
              <a:gd name="adj" fmla="val 9524"/>
            </a:avLst>
          </a:prstGeom>
          <a:solidFill>
            <a:schemeClr val="bg2"/>
          </a:solidFill>
          <a:ln/>
        </p:spPr>
      </p:sp>
      <p:sp>
        <p:nvSpPr>
          <p:cNvPr id="32" name="Text 30"/>
          <p:cNvSpPr txBox="1"/>
          <p:nvPr/>
        </p:nvSpPr>
        <p:spPr>
          <a:xfrm>
            <a:off x="640080" y="489204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Exporter</a:t>
            </a:r>
            <a:endParaRPr lang="en-US" sz="1800" dirty="0"/>
          </a:p>
          <a:p>
            <a:pPr algn="ctr" indent="0" marL="0">
              <a:buNone/>
            </a:pPr>
            <a:r>
              <a:rPr lang="en-US" sz="1400" dirty="0">
                <a:solidFill>
                  <a:schemeClr val="tx1"/>
                </a:solidFill>
              </a:rPr>
              <a:t>freshness · lag · files</a:t>
            </a:r>
            <a:endParaRPr lang="en-US" sz="1800" dirty="0"/>
          </a:p>
        </p:txBody>
      </p:sp>
      <p:sp>
        <p:nvSpPr>
          <p:cNvPr id="33" name="node-Prometheus"/>
          <p:cNvSpPr/>
          <p:nvPr/>
        </p:nvSpPr>
        <p:spPr>
          <a:xfrm>
            <a:off x="2834640" y="4892040"/>
            <a:ext cx="1920240" cy="960120"/>
          </a:xfrm>
          <a:prstGeom prst="roundRect">
            <a:avLst>
              <a:gd name="adj" fmla="val 9524"/>
            </a:avLst>
          </a:prstGeom>
          <a:solidFill>
            <a:schemeClr val="bg2"/>
          </a:solidFill>
          <a:ln/>
        </p:spPr>
      </p:sp>
      <p:sp>
        <p:nvSpPr>
          <p:cNvPr id="34" name="Text 32"/>
          <p:cNvSpPr txBox="1"/>
          <p:nvPr/>
        </p:nvSpPr>
        <p:spPr>
          <a:xfrm>
            <a:off x="2926080" y="489204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Prometheus</a:t>
            </a:r>
            <a:endParaRPr lang="en-US" sz="1800" dirty="0"/>
          </a:p>
          <a:p>
            <a:pPr algn="ctr" indent="0" marL="0">
              <a:buNone/>
            </a:pPr>
            <a:r>
              <a:rPr lang="en-US" sz="1400" dirty="0">
                <a:solidFill>
                  <a:schemeClr val="tx1"/>
                </a:solidFill>
              </a:rPr>
              <a:t>metrics + alerts</a:t>
            </a:r>
            <a:endParaRPr lang="en-US" sz="1800" dirty="0"/>
          </a:p>
        </p:txBody>
      </p:sp>
      <p:sp>
        <p:nvSpPr>
          <p:cNvPr id="35" name="node-Grafana"/>
          <p:cNvSpPr/>
          <p:nvPr/>
        </p:nvSpPr>
        <p:spPr>
          <a:xfrm>
            <a:off x="5120640" y="4892040"/>
            <a:ext cx="1920240" cy="960120"/>
          </a:xfrm>
          <a:prstGeom prst="roundRect">
            <a:avLst>
              <a:gd name="adj" fmla="val 9524"/>
            </a:avLst>
          </a:prstGeom>
          <a:solidFill>
            <a:schemeClr val="bg2"/>
          </a:solidFill>
          <a:ln/>
        </p:spPr>
      </p:sp>
      <p:sp>
        <p:nvSpPr>
          <p:cNvPr id="36" name="Text 34"/>
          <p:cNvSpPr txBox="1"/>
          <p:nvPr/>
        </p:nvSpPr>
        <p:spPr>
          <a:xfrm>
            <a:off x="5212080" y="4892040"/>
            <a:ext cx="1737360" cy="960120"/>
          </a:xfrm>
          <a:prstGeom prst="rect">
            <a:avLst/>
          </a:prstGeom>
          <a:noFill/>
          <a:ln/>
        </p:spPr>
        <p:txBody>
          <a:bodyPr wrap="square" lIns="0" tIns="0" rIns="0" bIns="0" rtlCol="0" anchor="ctr"/>
          <a:lstStyle/>
          <a:p>
            <a:pPr algn="ctr" indent="0" marL="0">
              <a:buNone/>
            </a:pPr>
            <a:r>
              <a:rPr lang="en-US" sz="1800" b="1" dirty="0">
                <a:solidFill>
                  <a:schemeClr val="tx1"/>
                </a:solidFill>
              </a:rPr>
              <a:t>Grafana</a:t>
            </a:r>
            <a:endParaRPr lang="en-US" sz="1800" dirty="0"/>
          </a:p>
          <a:p>
            <a:pPr algn="ctr" indent="0" marL="0">
              <a:buNone/>
            </a:pPr>
            <a:r>
              <a:rPr lang="en-US" sz="1400" dirty="0">
                <a:solidFill>
                  <a:schemeClr val="tx1"/>
                </a:solidFill>
              </a:rPr>
              <a:t>pipeline dashboard</a:t>
            </a:r>
            <a:endParaRPr lang="en-US" sz="1800" dirty="0"/>
          </a:p>
        </p:txBody>
      </p:sp>
      <p:sp>
        <p:nvSpPr>
          <p:cNvPr id="37" name="Shape 35"/>
          <p:cNvSpPr/>
          <p:nvPr/>
        </p:nvSpPr>
        <p:spPr>
          <a:xfrm>
            <a:off x="2514600" y="5372100"/>
            <a:ext cx="274320" cy="0"/>
          </a:xfrm>
          <a:prstGeom prst="line">
            <a:avLst/>
          </a:prstGeom>
          <a:noFill/>
          <a:ln w="25400">
            <a:solidFill>
              <a:schemeClr val="tx2"/>
            </a:solidFill>
            <a:prstDash val="solid"/>
            <a:tailEnd type="triangle"/>
          </a:ln>
        </p:spPr>
      </p:sp>
      <p:sp>
        <p:nvSpPr>
          <p:cNvPr id="38" name="Shape 36"/>
          <p:cNvSpPr/>
          <p:nvPr/>
        </p:nvSpPr>
        <p:spPr>
          <a:xfrm>
            <a:off x="4800600" y="5372100"/>
            <a:ext cx="274320" cy="0"/>
          </a:xfrm>
          <a:prstGeom prst="line">
            <a:avLst/>
          </a:prstGeom>
          <a:noFill/>
          <a:ln w="25400">
            <a:solidFill>
              <a:schemeClr val="tx2"/>
            </a:solidFill>
            <a:prstDash val="solid"/>
            <a:tailEnd type="triangle"/>
          </a:ln>
        </p:spPr>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CDC and ingestion design</a:t>
            </a:r>
            <a:endParaRPr lang="en-US" sz="3400" dirty="0"/>
          </a:p>
        </p:txBody>
      </p:sp>
      <p:sp>
        <p:nvSpPr>
          <p:cNvPr id="3" name="Text 1"/>
          <p:cNvSpPr txBox="1"/>
          <p:nvPr/>
        </p:nvSpPr>
        <p:spPr>
          <a:xfrm>
            <a:off x="548640" y="1417320"/>
            <a:ext cx="5120640" cy="448056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Logical replication with the pgoutput plugin (wal_level=logical)</a:t>
            </a:r>
            <a:endParaRPr lang="en-US" sz="1800" dirty="0"/>
          </a:p>
          <a:p>
            <a:pPr marL="228600" indent="-228600">
              <a:spcAft>
                <a:spcPts val="1000"/>
              </a:spcAft>
              <a:buSzPct val="100000"/>
              <a:buChar char="•"/>
            </a:pPr>
            <a:r>
              <a:rPr lang="en-US" sz="1800" dirty="0">
                <a:solidFill>
                  <a:schemeClr val="tx1"/>
                </a:solidFill>
              </a:rPr>
              <a:t>Debezium snapshots existing rows, then streams every change to one topic per table: pg.shop.&lt;table&gt;</a:t>
            </a:r>
            <a:endParaRPr lang="en-US" sz="1800" dirty="0"/>
          </a:p>
          <a:p>
            <a:pPr marL="228600" indent="-228600">
              <a:spcAft>
                <a:spcPts val="1000"/>
              </a:spcAft>
              <a:buSzPct val="100000"/>
              <a:buChar char="•"/>
            </a:pPr>
            <a:r>
              <a:rPr lang="en-US" sz="1800" dirty="0">
                <a:solidFill>
                  <a:schemeClr val="tx1"/>
                </a:solidFill>
              </a:rPr>
              <a:t>Iceberg format v2, merge-on-read: updates write small delete files instead of rewriting data files</a:t>
            </a:r>
            <a:endParaRPr lang="en-US" sz="1800" dirty="0"/>
          </a:p>
          <a:p>
            <a:pPr marL="228600" indent="-228600">
              <a:spcAft>
                <a:spcPts val="1000"/>
              </a:spcAft>
              <a:buSzPct val="100000"/>
              <a:buChar char="•"/>
            </a:pPr>
            <a:r>
              <a:rPr lang="en-US" sz="1800" dirty="0">
                <a:solidFill>
                  <a:schemeClr val="tx1"/>
                </a:solidFill>
              </a:rPr>
              <a:t>Kafka checkpoint + idempotent MERGE = effectively-once results</a:t>
            </a:r>
            <a:endParaRPr lang="en-US" sz="1800" dirty="0"/>
          </a:p>
        </p:txBody>
      </p:sp>
      <p:sp>
        <p:nvSpPr>
          <p:cNvPr id="4" name="Text 2"/>
          <p:cNvSpPr txBox="1"/>
          <p:nvPr/>
        </p:nvSpPr>
        <p:spPr>
          <a:xfrm>
            <a:off x="6172200" y="1371600"/>
            <a:ext cx="5470855" cy="411480"/>
          </a:xfrm>
          <a:prstGeom prst="rect">
            <a:avLst/>
          </a:prstGeom>
          <a:noFill/>
          <a:ln/>
        </p:spPr>
        <p:txBody>
          <a:bodyPr wrap="square" lIns="0" tIns="0" rIns="0" bIns="0" rtlCol="0" anchor="t"/>
          <a:lstStyle/>
          <a:p>
            <a:pPr indent="0" marL="0">
              <a:buNone/>
            </a:pPr>
            <a:r>
              <a:rPr lang="en-US" sz="2000" b="1" dirty="0">
                <a:solidFill>
                  <a:schemeClr val="tx1"/>
                </a:solidFill>
              </a:rPr>
              <a:t>Each micro-batch (foreachBatch), per table</a:t>
            </a:r>
            <a:endParaRPr lang="en-US" sz="2000" dirty="0"/>
          </a:p>
        </p:txBody>
      </p:sp>
      <p:sp>
        <p:nvSpPr>
          <p:cNvPr id="5" name="batch-step-1"/>
          <p:cNvSpPr/>
          <p:nvPr/>
        </p:nvSpPr>
        <p:spPr>
          <a:xfrm>
            <a:off x="6172200" y="1920240"/>
            <a:ext cx="5470855" cy="896112"/>
          </a:xfrm>
          <a:prstGeom prst="roundRect">
            <a:avLst>
              <a:gd name="adj" fmla="val 12245"/>
            </a:avLst>
          </a:prstGeom>
          <a:solidFill>
            <a:schemeClr val="bg2"/>
          </a:solidFill>
          <a:ln/>
        </p:spPr>
      </p:sp>
      <p:sp>
        <p:nvSpPr>
          <p:cNvPr id="6" name="batch-num-1"/>
          <p:cNvSpPr/>
          <p:nvPr/>
        </p:nvSpPr>
        <p:spPr>
          <a:xfrm>
            <a:off x="6373368" y="2121408"/>
            <a:ext cx="493776" cy="493776"/>
          </a:xfrm>
          <a:prstGeom prst="ellipse">
            <a:avLst/>
          </a:prstGeom>
          <a:solidFill>
            <a:schemeClr val="accent1"/>
          </a:solidFill>
          <a:ln/>
        </p:spPr>
      </p:sp>
      <p:sp>
        <p:nvSpPr>
          <p:cNvPr id="7" name="Text 5"/>
          <p:cNvSpPr txBox="1"/>
          <p:nvPr/>
        </p:nvSpPr>
        <p:spPr>
          <a:xfrm>
            <a:off x="6373368" y="2121408"/>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7040880" y="1920240"/>
            <a:ext cx="4419295" cy="896112"/>
          </a:xfrm>
          <a:prstGeom prst="rect">
            <a:avLst/>
          </a:prstGeom>
          <a:noFill/>
          <a:ln/>
        </p:spPr>
        <p:txBody>
          <a:bodyPr wrap="square" lIns="0" tIns="0" rIns="0" bIns="0" rtlCol="0" anchor="ctr"/>
          <a:lstStyle/>
          <a:p>
            <a:pPr indent="0" marL="0">
              <a:buNone/>
            </a:pPr>
            <a:r>
              <a:rPr lang="en-US" sz="1800" b="1" dirty="0">
                <a:solidFill>
                  <a:schemeClr val="tx1"/>
                </a:solidFill>
              </a:rPr>
              <a:t>Schema discovery: </a:t>
            </a:r>
            <a:pPr indent="0" marL="0">
              <a:buNone/>
            </a:pPr>
            <a:r>
              <a:rPr lang="en-US" sz="1800" dirty="0">
                <a:solidFill>
                  <a:schemeClr val="tx1"/>
                </a:solidFill>
              </a:rPr>
              <a:t>read the schema in the event, create or evolve the table</a:t>
            </a:r>
            <a:endParaRPr lang="en-US" sz="1800" dirty="0"/>
          </a:p>
        </p:txBody>
      </p:sp>
      <p:sp>
        <p:nvSpPr>
          <p:cNvPr id="9" name="batch-step-2"/>
          <p:cNvSpPr/>
          <p:nvPr/>
        </p:nvSpPr>
        <p:spPr>
          <a:xfrm>
            <a:off x="6172200" y="2944368"/>
            <a:ext cx="5470855" cy="896112"/>
          </a:xfrm>
          <a:prstGeom prst="roundRect">
            <a:avLst>
              <a:gd name="adj" fmla="val 12245"/>
            </a:avLst>
          </a:prstGeom>
          <a:solidFill>
            <a:schemeClr val="bg2"/>
          </a:solidFill>
          <a:ln/>
        </p:spPr>
      </p:sp>
      <p:sp>
        <p:nvSpPr>
          <p:cNvPr id="10" name="batch-num-2"/>
          <p:cNvSpPr/>
          <p:nvPr/>
        </p:nvSpPr>
        <p:spPr>
          <a:xfrm>
            <a:off x="6373368" y="3145536"/>
            <a:ext cx="493776" cy="493776"/>
          </a:xfrm>
          <a:prstGeom prst="ellipse">
            <a:avLst/>
          </a:prstGeom>
          <a:solidFill>
            <a:schemeClr val="accent1"/>
          </a:solidFill>
          <a:ln/>
        </p:spPr>
      </p:sp>
      <p:sp>
        <p:nvSpPr>
          <p:cNvPr id="11" name="Text 9"/>
          <p:cNvSpPr txBox="1"/>
          <p:nvPr/>
        </p:nvSpPr>
        <p:spPr>
          <a:xfrm>
            <a:off x="6373368" y="3145536"/>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7040880" y="2944368"/>
            <a:ext cx="4419295" cy="896112"/>
          </a:xfrm>
          <a:prstGeom prst="rect">
            <a:avLst/>
          </a:prstGeom>
          <a:noFill/>
          <a:ln/>
        </p:spPr>
        <p:txBody>
          <a:bodyPr wrap="square" lIns="0" tIns="0" rIns="0" bIns="0" rtlCol="0" anchor="ctr"/>
          <a:lstStyle/>
          <a:p>
            <a:pPr indent="0" marL="0">
              <a:buNone/>
            </a:pPr>
            <a:r>
              <a:rPr lang="en-US" sz="1800" b="1" dirty="0">
                <a:solidFill>
                  <a:schemeClr val="tx1"/>
                </a:solidFill>
              </a:rPr>
              <a:t>Dedupe by key: </a:t>
            </a:r>
            <a:pPr indent="0" marL="0">
              <a:buNone/>
            </a:pPr>
            <a:r>
              <a:rPr lang="en-US" sz="1800" dirty="0">
                <a:solidFill>
                  <a:schemeClr val="tx1"/>
                </a:solidFill>
              </a:rPr>
              <a:t>keep only the latest change per primary key</a:t>
            </a:r>
            <a:endParaRPr lang="en-US" sz="1800" dirty="0"/>
          </a:p>
        </p:txBody>
      </p:sp>
      <p:sp>
        <p:nvSpPr>
          <p:cNvPr id="13" name="batch-step-3"/>
          <p:cNvSpPr/>
          <p:nvPr/>
        </p:nvSpPr>
        <p:spPr>
          <a:xfrm>
            <a:off x="6172200" y="3968496"/>
            <a:ext cx="5470855" cy="896112"/>
          </a:xfrm>
          <a:prstGeom prst="roundRect">
            <a:avLst>
              <a:gd name="adj" fmla="val 12245"/>
            </a:avLst>
          </a:prstGeom>
          <a:solidFill>
            <a:schemeClr val="bg2"/>
          </a:solidFill>
          <a:ln/>
        </p:spPr>
      </p:sp>
      <p:sp>
        <p:nvSpPr>
          <p:cNvPr id="14" name="batch-num-3"/>
          <p:cNvSpPr/>
          <p:nvPr/>
        </p:nvSpPr>
        <p:spPr>
          <a:xfrm>
            <a:off x="6373368" y="4169664"/>
            <a:ext cx="493776" cy="493776"/>
          </a:xfrm>
          <a:prstGeom prst="ellipse">
            <a:avLst/>
          </a:prstGeom>
          <a:solidFill>
            <a:schemeClr val="accent1"/>
          </a:solidFill>
          <a:ln/>
        </p:spPr>
      </p:sp>
      <p:sp>
        <p:nvSpPr>
          <p:cNvPr id="15" name="Text 13"/>
          <p:cNvSpPr txBox="1"/>
          <p:nvPr/>
        </p:nvSpPr>
        <p:spPr>
          <a:xfrm>
            <a:off x="6373368" y="4169664"/>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7040880" y="3968496"/>
            <a:ext cx="4419295" cy="896112"/>
          </a:xfrm>
          <a:prstGeom prst="rect">
            <a:avLst/>
          </a:prstGeom>
          <a:noFill/>
          <a:ln/>
        </p:spPr>
        <p:txBody>
          <a:bodyPr wrap="square" lIns="0" tIns="0" rIns="0" bIns="0" rtlCol="0" anchor="ctr"/>
          <a:lstStyle/>
          <a:p>
            <a:pPr indent="0" marL="0">
              <a:buNone/>
            </a:pPr>
            <a:r>
              <a:rPr lang="en-US" sz="1800" b="1" dirty="0">
                <a:solidFill>
                  <a:schemeClr val="tx1"/>
                </a:solidFill>
              </a:rPr>
              <a:t>One MERGE INTO: </a:t>
            </a:r>
            <a:pPr indent="0" marL="0">
              <a:buNone/>
            </a:pPr>
            <a:r>
              <a:rPr lang="en-US" sz="1800" dirty="0">
                <a:solidFill>
                  <a:schemeClr val="tx1"/>
                </a:solidFill>
              </a:rPr>
              <a:t>deletes, updates and inserts in a single commit</a:t>
            </a:r>
            <a:endParaRPr lang="en-US" sz="1800" dirty="0"/>
          </a:p>
        </p:txBody>
      </p:sp>
      <p:sp>
        <p:nvSpPr>
          <p:cNvPr id="17" name="batch-step-4"/>
          <p:cNvSpPr/>
          <p:nvPr/>
        </p:nvSpPr>
        <p:spPr>
          <a:xfrm>
            <a:off x="6172200" y="4992624"/>
            <a:ext cx="5470855" cy="896112"/>
          </a:xfrm>
          <a:prstGeom prst="roundRect">
            <a:avLst>
              <a:gd name="adj" fmla="val 12245"/>
            </a:avLst>
          </a:prstGeom>
          <a:solidFill>
            <a:schemeClr val="bg2"/>
          </a:solidFill>
          <a:ln/>
        </p:spPr>
      </p:sp>
      <p:sp>
        <p:nvSpPr>
          <p:cNvPr id="18" name="batch-num-4"/>
          <p:cNvSpPr/>
          <p:nvPr/>
        </p:nvSpPr>
        <p:spPr>
          <a:xfrm>
            <a:off x="6373368" y="5193792"/>
            <a:ext cx="493776" cy="493776"/>
          </a:xfrm>
          <a:prstGeom prst="ellipse">
            <a:avLst/>
          </a:prstGeom>
          <a:solidFill>
            <a:schemeClr val="accent1"/>
          </a:solidFill>
          <a:ln/>
        </p:spPr>
      </p:sp>
      <p:sp>
        <p:nvSpPr>
          <p:cNvPr id="19" name="Text 17"/>
          <p:cNvSpPr txBox="1"/>
          <p:nvPr/>
        </p:nvSpPr>
        <p:spPr>
          <a:xfrm>
            <a:off x="6373368" y="519379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Text 18"/>
          <p:cNvSpPr txBox="1"/>
          <p:nvPr/>
        </p:nvSpPr>
        <p:spPr>
          <a:xfrm>
            <a:off x="7040880" y="4992624"/>
            <a:ext cx="4419295" cy="896112"/>
          </a:xfrm>
          <a:prstGeom prst="rect">
            <a:avLst/>
          </a:prstGeom>
          <a:noFill/>
          <a:ln/>
        </p:spPr>
        <p:txBody>
          <a:bodyPr wrap="square" lIns="0" tIns="0" rIns="0" bIns="0" rtlCol="0" anchor="ctr"/>
          <a:lstStyle/>
          <a:p>
            <a:pPr indent="0" marL="0">
              <a:buNone/>
            </a:pPr>
            <a:r>
              <a:rPr lang="en-US" sz="1800" b="1" dirty="0">
                <a:solidFill>
                  <a:schemeClr val="tx1"/>
                </a:solidFill>
              </a:rPr>
              <a:t>Commit snapshot: </a:t>
            </a:r>
            <a:pPr indent="0" marL="0">
              <a:buNone/>
            </a:pPr>
            <a:r>
              <a:rPr lang="en-US" sz="1800" dirty="0">
                <a:solidFill>
                  <a:schemeClr val="tx1"/>
                </a:solidFill>
              </a:rPr>
              <a:t>retried with backoff if compaction commits first</a:t>
            </a:r>
            <a:endParaRPr lang="en-US" sz="1800" dirty="0"/>
          </a:p>
        </p:txBody>
      </p:sp>
      <p:sp>
        <p:nvSpPr>
          <p:cNvPr id="21" name="Text 19"/>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docs/architecture.md, src/topologies/spark/cdc_to_iceberg.py</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Schema evolution and time travel</a:t>
            </a:r>
            <a:endParaRPr lang="en-US" sz="3400" dirty="0"/>
          </a:p>
        </p:txBody>
      </p:sp>
      <p:sp>
        <p:nvSpPr>
          <p:cNvPr id="3" name="schema-card"/>
          <p:cNvSpPr/>
          <p:nvPr/>
        </p:nvSpPr>
        <p:spPr>
          <a:xfrm>
            <a:off x="548640" y="1371600"/>
            <a:ext cx="5364328" cy="4526280"/>
          </a:xfrm>
          <a:prstGeom prst="roundRect">
            <a:avLst>
              <a:gd name="adj" fmla="val 2424"/>
            </a:avLst>
          </a:prstGeom>
          <a:solidFill>
            <a:schemeClr val="bg2"/>
          </a:solidFill>
          <a:ln/>
        </p:spPr>
      </p:sp>
      <p:sp>
        <p:nvSpPr>
          <p:cNvPr id="4" name="Text 2"/>
          <p:cNvSpPr txBox="1"/>
          <p:nvPr/>
        </p:nvSpPr>
        <p:spPr>
          <a:xfrm>
            <a:off x="868680" y="1600200"/>
            <a:ext cx="4724248" cy="411480"/>
          </a:xfrm>
          <a:prstGeom prst="rect">
            <a:avLst/>
          </a:prstGeom>
          <a:noFill/>
          <a:ln/>
        </p:spPr>
        <p:txBody>
          <a:bodyPr wrap="square" lIns="0" tIns="0" rIns="0" bIns="0" rtlCol="0" anchor="t"/>
          <a:lstStyle/>
          <a:p>
            <a:pPr indent="0" marL="0">
              <a:buNone/>
            </a:pPr>
            <a:r>
              <a:rPr lang="en-US" sz="2200" b="1" dirty="0">
                <a:solidFill>
                  <a:schemeClr val="tx1"/>
                </a:solidFill>
              </a:rPr>
              <a:t>Schema evolution (automatic)</a:t>
            </a:r>
            <a:endParaRPr lang="en-US" sz="2200" dirty="0"/>
          </a:p>
        </p:txBody>
      </p:sp>
      <p:sp>
        <p:nvSpPr>
          <p:cNvPr id="5" name="Text 3"/>
          <p:cNvSpPr txBox="1"/>
          <p:nvPr/>
        </p:nvSpPr>
        <p:spPr>
          <a:xfrm>
            <a:off x="868680" y="2194560"/>
            <a:ext cx="4724248" cy="34747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ALTER TABLE … ADD COLUMN in PostgreSQL becomes a new Iceberg column</a:t>
            </a:r>
            <a:endParaRPr lang="en-US" sz="1800" dirty="0"/>
          </a:p>
          <a:p>
            <a:pPr marL="228600" indent="-228600">
              <a:spcAft>
                <a:spcPts val="1000"/>
              </a:spcAft>
              <a:buSzPct val="100000"/>
              <a:buChar char="•"/>
            </a:pPr>
            <a:r>
              <a:rPr lang="en-US" sz="1800" dirty="0">
                <a:solidFill>
                  <a:schemeClr val="tx1"/>
                </a:solidFill>
              </a:rPr>
              <a:t>int → bigint widening is applied in place</a:t>
            </a:r>
            <a:endParaRPr lang="en-US" sz="1800" dirty="0"/>
          </a:p>
          <a:p>
            <a:pPr marL="228600" indent="-228600">
              <a:spcAft>
                <a:spcPts val="1000"/>
              </a:spcAft>
              <a:buSzPct val="100000"/>
              <a:buChar char="•"/>
            </a:pPr>
            <a:r>
              <a:rPr lang="en-US" sz="1800" dirty="0">
                <a:solidFill>
                  <a:schemeClr val="tx1"/>
                </a:solidFill>
              </a:rPr>
              <a:t>No restart and no data rewrite</a:t>
            </a:r>
            <a:endParaRPr lang="en-US" sz="1800" dirty="0"/>
          </a:p>
          <a:p>
            <a:pPr marL="228600" indent="-228600">
              <a:spcAft>
                <a:spcPts val="1000"/>
              </a:spcAft>
              <a:buSzPct val="100000"/>
              <a:buChar char="•"/>
            </a:pPr>
            <a:r>
              <a:rPr lang="en-US" sz="1800" dirty="0">
                <a:solidFill>
                  <a:schemeClr val="tx1"/>
                </a:solidFill>
              </a:rPr>
              <a:t>Old rows read NULL for the new column (schema-on-read)</a:t>
            </a:r>
            <a:endParaRPr lang="en-US" sz="1800" dirty="0"/>
          </a:p>
        </p:txBody>
      </p:sp>
      <p:sp>
        <p:nvSpPr>
          <p:cNvPr id="6" name="timetravel-card"/>
          <p:cNvSpPr/>
          <p:nvPr/>
        </p:nvSpPr>
        <p:spPr>
          <a:xfrm>
            <a:off x="6278728" y="1371600"/>
            <a:ext cx="5364328" cy="4526280"/>
          </a:xfrm>
          <a:prstGeom prst="roundRect">
            <a:avLst>
              <a:gd name="adj" fmla="val 2424"/>
            </a:avLst>
          </a:prstGeom>
          <a:solidFill>
            <a:schemeClr val="bg2"/>
          </a:solidFill>
          <a:ln/>
        </p:spPr>
      </p:sp>
      <p:sp>
        <p:nvSpPr>
          <p:cNvPr id="7" name="Text 5"/>
          <p:cNvSpPr txBox="1"/>
          <p:nvPr/>
        </p:nvSpPr>
        <p:spPr>
          <a:xfrm>
            <a:off x="6598768" y="1600200"/>
            <a:ext cx="4724248" cy="411480"/>
          </a:xfrm>
          <a:prstGeom prst="rect">
            <a:avLst/>
          </a:prstGeom>
          <a:noFill/>
          <a:ln/>
        </p:spPr>
        <p:txBody>
          <a:bodyPr wrap="square" lIns="0" tIns="0" rIns="0" bIns="0" rtlCol="0" anchor="t"/>
          <a:lstStyle/>
          <a:p>
            <a:pPr indent="0" marL="0">
              <a:buNone/>
            </a:pPr>
            <a:r>
              <a:rPr lang="en-US" sz="2200" b="1" dirty="0">
                <a:solidFill>
                  <a:schemeClr val="tx1"/>
                </a:solidFill>
              </a:rPr>
              <a:t>Time travel (every batch is a snapshot)</a:t>
            </a:r>
            <a:endParaRPr lang="en-US" sz="2200" dirty="0"/>
          </a:p>
        </p:txBody>
      </p:sp>
      <p:sp>
        <p:nvSpPr>
          <p:cNvPr id="8" name="sql-box"/>
          <p:cNvSpPr/>
          <p:nvPr/>
        </p:nvSpPr>
        <p:spPr>
          <a:xfrm>
            <a:off x="6598768" y="2194560"/>
            <a:ext cx="4724248" cy="1691640"/>
          </a:xfrm>
          <a:prstGeom prst="roundRect">
            <a:avLst>
              <a:gd name="adj" fmla="val 4324"/>
            </a:avLst>
          </a:prstGeom>
          <a:solidFill>
            <a:schemeClr val="bg1"/>
          </a:solidFill>
          <a:ln/>
        </p:spPr>
      </p:sp>
      <p:sp>
        <p:nvSpPr>
          <p:cNvPr id="9" name="Text 7"/>
          <p:cNvSpPr txBox="1"/>
          <p:nvPr/>
        </p:nvSpPr>
        <p:spPr>
          <a:xfrm>
            <a:off x="6781648" y="2286000"/>
            <a:ext cx="4358488" cy="1508760"/>
          </a:xfrm>
          <a:prstGeom prst="rect">
            <a:avLst/>
          </a:prstGeom>
          <a:noFill/>
          <a:ln/>
        </p:spPr>
        <p:txBody>
          <a:bodyPr wrap="square" lIns="0" tIns="0" rIns="0" bIns="0" rtlCol="0" anchor="ctr"/>
          <a:lstStyle/>
          <a:p>
            <a:pPr indent="0" marL="0">
              <a:buNone/>
            </a:pPr>
            <a:r>
              <a:rPr lang="en-US" sz="1700" dirty="0">
                <a:solidFill>
                  <a:schemeClr val="tx1"/>
                </a:solidFill>
                <a:latin typeface="Courier New" pitchFamily="34" charset="0"/>
                <a:ea typeface="Courier New" pitchFamily="34" charset="-122"/>
                <a:cs typeface="Courier New" pitchFamily="34" charset="-120"/>
              </a:rPr>
              <a:t>SELECT * FROM orders</a:t>
            </a:r>
            <a:endParaRPr lang="en-US" sz="1700" dirty="0"/>
          </a:p>
          <a:p>
            <a:pPr indent="0" marL="0">
              <a:buNone/>
            </a:pPr>
            <a:r>
              <a:rPr lang="en-US" sz="1700" dirty="0">
                <a:solidFill>
                  <a:schemeClr val="tx1"/>
                </a:solidFill>
                <a:latin typeface="Courier New" pitchFamily="34" charset="0"/>
                <a:ea typeface="Courier New" pitchFamily="34" charset="-122"/>
                <a:cs typeface="Courier New" pitchFamily="34" charset="-120"/>
              </a:rPr>
              <a:t>  FOR VERSION AS OF &lt;id&gt;;</a:t>
            </a:r>
            <a:endParaRPr lang="en-US" sz="1700" dirty="0"/>
          </a:p>
          <a:p>
            <a:pPr indent="0" marL="0">
              <a:buNone/>
            </a:pPr>
            <a:r>
              <a:rPr lang="en-US" sz="1700" dirty="0">
                <a:solidFill>
                  <a:schemeClr val="tx1"/>
                </a:solidFill>
                <a:latin typeface="Courier New" pitchFamily="34" charset="0"/>
                <a:ea typeface="Courier New" pitchFamily="34" charset="-122"/>
                <a:cs typeface="Courier New" pitchFamily="34" charset="-120"/>
              </a:rPr>
              <a:t>SELECT * FROM orders</a:t>
            </a:r>
            <a:endParaRPr lang="en-US" sz="1700" dirty="0"/>
          </a:p>
          <a:p>
            <a:pPr indent="0" marL="0">
              <a:buNone/>
            </a:pPr>
            <a:r>
              <a:rPr lang="en-US" sz="1700" dirty="0">
                <a:solidFill>
                  <a:schemeClr val="tx1"/>
                </a:solidFill>
                <a:latin typeface="Courier New" pitchFamily="34" charset="0"/>
                <a:ea typeface="Courier New" pitchFamily="34" charset="-122"/>
                <a:cs typeface="Courier New" pitchFamily="34" charset="-120"/>
              </a:rPr>
              <a:t>  FOR TIMESTAMP AS OF &lt;ts&gt;;</a:t>
            </a:r>
            <a:endParaRPr lang="en-US" sz="1700" dirty="0"/>
          </a:p>
        </p:txBody>
      </p:sp>
      <p:sp>
        <p:nvSpPr>
          <p:cNvPr id="10" name="Text 8"/>
          <p:cNvSpPr txBox="1"/>
          <p:nvPr/>
        </p:nvSpPr>
        <p:spPr>
          <a:xfrm>
            <a:off x="6598768" y="4114800"/>
            <a:ext cx="4724248" cy="16459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$snapshots lists every commit</a:t>
            </a:r>
            <a:endParaRPr lang="en-US" sz="1800" dirty="0"/>
          </a:p>
          <a:p>
            <a:pPr marL="228600" indent="-228600">
              <a:spcAft>
                <a:spcPts val="1000"/>
              </a:spcAft>
              <a:buSzPct val="100000"/>
              <a:buChar char="•"/>
            </a:pPr>
            <a:r>
              <a:rPr lang="en-US" sz="1800" dirty="0">
                <a:solidFill>
                  <a:schemeClr val="tx1"/>
                </a:solidFill>
              </a:rPr>
              <a:t>Change audit: current version EXCEPT an older one</a:t>
            </a:r>
            <a:endParaRPr lang="en-US" sz="1800" dirty="0"/>
          </a:p>
        </p:txBody>
      </p:sp>
      <p:sp>
        <p:nvSpPr>
          <p:cNvPr id="11" name="Text 9"/>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scripts/demos/schema_evolution.sh, scripts/demos/time_travel.sh</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Optimisation with Airflow + Spark</a:t>
            </a:r>
            <a:endParaRPr lang="en-US" sz="3400" dirty="0"/>
          </a:p>
        </p:txBody>
      </p:sp>
      <p:sp>
        <p:nvSpPr>
          <p:cNvPr id="3" name="Text 1"/>
          <p:cNvSpPr txBox="1"/>
          <p:nvPr/>
        </p:nvSpPr>
        <p:spPr>
          <a:xfrm>
            <a:off x="548640" y="1325880"/>
            <a:ext cx="11094415" cy="7772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orders: </a:t>
            </a:r>
            <a:pPr indent="0" marL="0">
              <a:spcAft>
                <a:spcPts val="600"/>
              </a:spcAft>
              <a:buNone/>
            </a:pPr>
            <a:r>
              <a:rPr lang="en-US" sz="1800" dirty="0">
                <a:solidFill>
                  <a:schemeClr val="tx1"/>
                </a:solidFill>
              </a:rPr>
              <a:t>partition evolution to months(o_orderdate), sorted by o_orderdate, o_custkey</a:t>
            </a:r>
            <a:endParaRPr lang="en-US" sz="1800" dirty="0"/>
          </a:p>
          <a:p>
            <a:pPr indent="0" marL="0">
              <a:spcAft>
                <a:spcPts val="600"/>
              </a:spcAft>
              <a:buNone/>
            </a:pPr>
            <a:r>
              <a:rPr lang="en-US" sz="1800" b="1" dirty="0">
                <a:solidFill>
                  <a:schemeClr val="tx1"/>
                </a:solidFill>
              </a:rPr>
              <a:t>customer: </a:t>
            </a:r>
            <a:pPr indent="0" marL="0">
              <a:spcAft>
                <a:spcPts val="600"/>
              </a:spcAft>
              <a:buNone/>
            </a:pPr>
            <a:r>
              <a:rPr lang="en-US" sz="1800" dirty="0">
                <a:solidFill>
                  <a:schemeClr val="tx1"/>
                </a:solidFill>
              </a:rPr>
              <a:t>sorted by c_nationkey, c_custkey</a:t>
            </a:r>
            <a:endParaRPr lang="en-US" sz="1800" dirty="0"/>
          </a:p>
        </p:txBody>
      </p:sp>
      <p:sp>
        <p:nvSpPr>
          <p:cNvPr id="4" name="dag-task-1"/>
          <p:cNvSpPr/>
          <p:nvPr/>
        </p:nvSpPr>
        <p:spPr>
          <a:xfrm>
            <a:off x="548640" y="2423160"/>
            <a:ext cx="2464994" cy="2743200"/>
          </a:xfrm>
          <a:prstGeom prst="roundRect">
            <a:avLst>
              <a:gd name="adj" fmla="val 4451"/>
            </a:avLst>
          </a:prstGeom>
          <a:solidFill>
            <a:schemeClr val="bg2"/>
          </a:solidFill>
          <a:ln/>
        </p:spPr>
      </p:sp>
      <p:sp>
        <p:nvSpPr>
          <p:cNvPr id="5" name="Text 3"/>
          <p:cNvSpPr txBox="1"/>
          <p:nvPr/>
        </p:nvSpPr>
        <p:spPr>
          <a:xfrm>
            <a:off x="777240" y="2651760"/>
            <a:ext cx="2007794" cy="411480"/>
          </a:xfrm>
          <a:prstGeom prst="rect">
            <a:avLst/>
          </a:prstGeom>
          <a:noFill/>
          <a:ln/>
        </p:spPr>
        <p:txBody>
          <a:bodyPr wrap="square" lIns="0" tIns="0" rIns="0" bIns="0" rtlCol="0" anchor="t"/>
          <a:lstStyle/>
          <a:p>
            <a:pPr indent="0" marL="0">
              <a:buNone/>
            </a:pPr>
            <a:r>
              <a:rPr lang="en-US" sz="2000" b="1" dirty="0">
                <a:solidFill>
                  <a:schemeClr val="tx1"/>
                </a:solidFill>
              </a:rPr>
              <a:t>Layout + compact</a:t>
            </a:r>
            <a:endParaRPr lang="en-US" sz="2000" dirty="0"/>
          </a:p>
        </p:txBody>
      </p:sp>
      <p:sp>
        <p:nvSpPr>
          <p:cNvPr id="6" name="Text 4"/>
          <p:cNvSpPr txBox="1"/>
          <p:nvPr/>
        </p:nvSpPr>
        <p:spPr>
          <a:xfrm>
            <a:off x="777240" y="3108960"/>
            <a:ext cx="2007794" cy="548640"/>
          </a:xfrm>
          <a:prstGeom prst="rect">
            <a:avLst/>
          </a:prstGeom>
          <a:noFill/>
          <a:ln/>
        </p:spPr>
        <p:txBody>
          <a:bodyPr wrap="square" lIns="0" tIns="0" rIns="0" bIns="0" rtlCol="0" anchor="t"/>
          <a:lstStyle/>
          <a:p>
            <a:pPr indent="0" marL="0">
              <a:buNone/>
            </a:pPr>
            <a:r>
              <a:rPr lang="en-US" sz="3200" b="1" dirty="0">
                <a:solidFill>
                  <a:schemeClr val="accent1"/>
                </a:solidFill>
              </a:rPr>
              <a:t>43.9 s</a:t>
            </a:r>
            <a:endParaRPr lang="en-US" sz="3200" dirty="0"/>
          </a:p>
        </p:txBody>
      </p:sp>
      <p:sp>
        <p:nvSpPr>
          <p:cNvPr id="7" name="Text 5"/>
          <p:cNvSpPr txBox="1"/>
          <p:nvPr/>
        </p:nvSpPr>
        <p:spPr>
          <a:xfrm>
            <a:off x="777240" y="3749040"/>
            <a:ext cx="2007794" cy="1325880"/>
          </a:xfrm>
          <a:prstGeom prst="rect">
            <a:avLst/>
          </a:prstGeom>
          <a:noFill/>
          <a:ln/>
        </p:spPr>
        <p:txBody>
          <a:bodyPr wrap="square" lIns="0" tIns="0" rIns="0" bIns="0" rtlCol="0" anchor="t"/>
          <a:lstStyle/>
          <a:p>
            <a:pPr indent="0" marL="0">
              <a:buNone/>
            </a:pPr>
            <a:r>
              <a:rPr lang="en-US" sz="1800" dirty="0">
                <a:solidFill>
                  <a:schemeClr val="tx1"/>
                </a:solidFill>
              </a:rPr>
              <a:t>Apply partition spec and sort order, sorted rewrite of data files</a:t>
            </a:r>
            <a:endParaRPr lang="en-US" sz="1800" dirty="0"/>
          </a:p>
        </p:txBody>
      </p:sp>
      <p:sp>
        <p:nvSpPr>
          <p:cNvPr id="8" name="Shape 6"/>
          <p:cNvSpPr/>
          <p:nvPr/>
        </p:nvSpPr>
        <p:spPr>
          <a:xfrm>
            <a:off x="3068498" y="3794760"/>
            <a:ext cx="301752" cy="0"/>
          </a:xfrm>
          <a:prstGeom prst="line">
            <a:avLst/>
          </a:prstGeom>
          <a:noFill/>
          <a:ln w="25400">
            <a:solidFill>
              <a:schemeClr val="tx2"/>
            </a:solidFill>
            <a:prstDash val="solid"/>
            <a:tailEnd type="triangle"/>
          </a:ln>
        </p:spPr>
      </p:sp>
      <p:sp>
        <p:nvSpPr>
          <p:cNvPr id="9" name="dag-task-2"/>
          <p:cNvSpPr/>
          <p:nvPr/>
        </p:nvSpPr>
        <p:spPr>
          <a:xfrm>
            <a:off x="3425114" y="2423160"/>
            <a:ext cx="2464994" cy="2743200"/>
          </a:xfrm>
          <a:prstGeom prst="roundRect">
            <a:avLst>
              <a:gd name="adj" fmla="val 4451"/>
            </a:avLst>
          </a:prstGeom>
          <a:solidFill>
            <a:schemeClr val="bg2"/>
          </a:solidFill>
          <a:ln/>
        </p:spPr>
      </p:sp>
      <p:sp>
        <p:nvSpPr>
          <p:cNvPr id="10" name="Text 8"/>
          <p:cNvSpPr txBox="1"/>
          <p:nvPr/>
        </p:nvSpPr>
        <p:spPr>
          <a:xfrm>
            <a:off x="3653714" y="2651760"/>
            <a:ext cx="2007794" cy="411480"/>
          </a:xfrm>
          <a:prstGeom prst="rect">
            <a:avLst/>
          </a:prstGeom>
          <a:noFill/>
          <a:ln/>
        </p:spPr>
        <p:txBody>
          <a:bodyPr wrap="square" lIns="0" tIns="0" rIns="0" bIns="0" rtlCol="0" anchor="t"/>
          <a:lstStyle/>
          <a:p>
            <a:pPr indent="0" marL="0">
              <a:buNone/>
            </a:pPr>
            <a:r>
              <a:rPr lang="en-US" sz="2000" b="1" dirty="0">
                <a:solidFill>
                  <a:schemeClr val="tx1"/>
                </a:solidFill>
              </a:rPr>
              <a:t>Rewrite deletes</a:t>
            </a:r>
            <a:endParaRPr lang="en-US" sz="2000" dirty="0"/>
          </a:p>
        </p:txBody>
      </p:sp>
      <p:sp>
        <p:nvSpPr>
          <p:cNvPr id="11" name="Text 9"/>
          <p:cNvSpPr txBox="1"/>
          <p:nvPr/>
        </p:nvSpPr>
        <p:spPr>
          <a:xfrm>
            <a:off x="3653714" y="3108960"/>
            <a:ext cx="2007794" cy="548640"/>
          </a:xfrm>
          <a:prstGeom prst="rect">
            <a:avLst/>
          </a:prstGeom>
          <a:noFill/>
          <a:ln/>
        </p:spPr>
        <p:txBody>
          <a:bodyPr wrap="square" lIns="0" tIns="0" rIns="0" bIns="0" rtlCol="0" anchor="t"/>
          <a:lstStyle/>
          <a:p>
            <a:pPr indent="0" marL="0">
              <a:buNone/>
            </a:pPr>
            <a:r>
              <a:rPr lang="en-US" sz="3200" b="1" dirty="0">
                <a:solidFill>
                  <a:schemeClr val="accent1"/>
                </a:solidFill>
              </a:rPr>
              <a:t>22.8 s</a:t>
            </a:r>
            <a:endParaRPr lang="en-US" sz="3200" dirty="0"/>
          </a:p>
        </p:txBody>
      </p:sp>
      <p:sp>
        <p:nvSpPr>
          <p:cNvPr id="12" name="Text 10"/>
          <p:cNvSpPr txBox="1"/>
          <p:nvPr/>
        </p:nvSpPr>
        <p:spPr>
          <a:xfrm>
            <a:off x="3653714" y="3749040"/>
            <a:ext cx="2007794" cy="1325880"/>
          </a:xfrm>
          <a:prstGeom prst="rect">
            <a:avLst/>
          </a:prstGeom>
          <a:noFill/>
          <a:ln/>
        </p:spPr>
        <p:txBody>
          <a:bodyPr wrap="square" lIns="0" tIns="0" rIns="0" bIns="0" rtlCol="0" anchor="t"/>
          <a:lstStyle/>
          <a:p>
            <a:pPr indent="0" marL="0">
              <a:buNone/>
            </a:pPr>
            <a:r>
              <a:rPr lang="en-US" sz="1800" dirty="0">
                <a:solidFill>
                  <a:schemeClr val="tx1"/>
                </a:solidFill>
              </a:rPr>
              <a:t>Rewrite position-delete files and manifests</a:t>
            </a:r>
            <a:endParaRPr lang="en-US" sz="1800" dirty="0"/>
          </a:p>
        </p:txBody>
      </p:sp>
      <p:sp>
        <p:nvSpPr>
          <p:cNvPr id="13" name="Shape 11"/>
          <p:cNvSpPr/>
          <p:nvPr/>
        </p:nvSpPr>
        <p:spPr>
          <a:xfrm>
            <a:off x="5944972" y="3794760"/>
            <a:ext cx="301752" cy="0"/>
          </a:xfrm>
          <a:prstGeom prst="line">
            <a:avLst/>
          </a:prstGeom>
          <a:noFill/>
          <a:ln w="25400">
            <a:solidFill>
              <a:schemeClr val="tx2"/>
            </a:solidFill>
            <a:prstDash val="solid"/>
            <a:tailEnd type="triangle"/>
          </a:ln>
        </p:spPr>
      </p:sp>
      <p:sp>
        <p:nvSpPr>
          <p:cNvPr id="14" name="dag-task-3"/>
          <p:cNvSpPr/>
          <p:nvPr/>
        </p:nvSpPr>
        <p:spPr>
          <a:xfrm>
            <a:off x="6301588" y="2423160"/>
            <a:ext cx="2464994" cy="2743200"/>
          </a:xfrm>
          <a:prstGeom prst="roundRect">
            <a:avLst>
              <a:gd name="adj" fmla="val 4451"/>
            </a:avLst>
          </a:prstGeom>
          <a:solidFill>
            <a:schemeClr val="bg2"/>
          </a:solidFill>
          <a:ln/>
        </p:spPr>
      </p:sp>
      <p:sp>
        <p:nvSpPr>
          <p:cNvPr id="15" name="Text 13"/>
          <p:cNvSpPr txBox="1"/>
          <p:nvPr/>
        </p:nvSpPr>
        <p:spPr>
          <a:xfrm>
            <a:off x="6530188" y="2651760"/>
            <a:ext cx="2007794" cy="411480"/>
          </a:xfrm>
          <a:prstGeom prst="rect">
            <a:avLst/>
          </a:prstGeom>
          <a:noFill/>
          <a:ln/>
        </p:spPr>
        <p:txBody>
          <a:bodyPr wrap="square" lIns="0" tIns="0" rIns="0" bIns="0" rtlCol="0" anchor="t"/>
          <a:lstStyle/>
          <a:p>
            <a:pPr indent="0" marL="0">
              <a:buNone/>
            </a:pPr>
            <a:r>
              <a:rPr lang="en-US" sz="2000" b="1" dirty="0">
                <a:solidFill>
                  <a:schemeClr val="tx1"/>
                </a:solidFill>
              </a:rPr>
              <a:t>Expire snapshots</a:t>
            </a:r>
            <a:endParaRPr lang="en-US" sz="2000" dirty="0"/>
          </a:p>
        </p:txBody>
      </p:sp>
      <p:sp>
        <p:nvSpPr>
          <p:cNvPr id="16" name="Text 14"/>
          <p:cNvSpPr txBox="1"/>
          <p:nvPr/>
        </p:nvSpPr>
        <p:spPr>
          <a:xfrm>
            <a:off x="6530188" y="3108960"/>
            <a:ext cx="2007794" cy="548640"/>
          </a:xfrm>
          <a:prstGeom prst="rect">
            <a:avLst/>
          </a:prstGeom>
          <a:noFill/>
          <a:ln/>
        </p:spPr>
        <p:txBody>
          <a:bodyPr wrap="square" lIns="0" tIns="0" rIns="0" bIns="0" rtlCol="0" anchor="t"/>
          <a:lstStyle/>
          <a:p>
            <a:pPr indent="0" marL="0">
              <a:buNone/>
            </a:pPr>
            <a:r>
              <a:rPr lang="en-US" sz="3200" b="1" dirty="0">
                <a:solidFill>
                  <a:schemeClr val="accent1"/>
                </a:solidFill>
              </a:rPr>
              <a:t>23.1 s</a:t>
            </a:r>
            <a:endParaRPr lang="en-US" sz="3200" dirty="0"/>
          </a:p>
        </p:txBody>
      </p:sp>
      <p:sp>
        <p:nvSpPr>
          <p:cNvPr id="17" name="Text 15"/>
          <p:cNvSpPr txBox="1"/>
          <p:nvPr/>
        </p:nvSpPr>
        <p:spPr>
          <a:xfrm>
            <a:off x="6530188" y="3749040"/>
            <a:ext cx="2007794" cy="1325880"/>
          </a:xfrm>
          <a:prstGeom prst="rect">
            <a:avLst/>
          </a:prstGeom>
          <a:noFill/>
          <a:ln/>
        </p:spPr>
        <p:txBody>
          <a:bodyPr wrap="square" lIns="0" tIns="0" rIns="0" bIns="0" rtlCol="0" anchor="t"/>
          <a:lstStyle/>
          <a:p>
            <a:pPr indent="0" marL="0">
              <a:buNone/>
            </a:pPr>
            <a:r>
              <a:rPr lang="en-US" sz="1800" dirty="0">
                <a:solidFill>
                  <a:schemeClr val="tx1"/>
                </a:solidFill>
              </a:rPr>
              <a:t>Drop old snapshots and the files only they used</a:t>
            </a:r>
            <a:endParaRPr lang="en-US" sz="1800" dirty="0"/>
          </a:p>
        </p:txBody>
      </p:sp>
      <p:sp>
        <p:nvSpPr>
          <p:cNvPr id="18" name="Shape 16"/>
          <p:cNvSpPr/>
          <p:nvPr/>
        </p:nvSpPr>
        <p:spPr>
          <a:xfrm>
            <a:off x="8821445" y="3794760"/>
            <a:ext cx="301752" cy="0"/>
          </a:xfrm>
          <a:prstGeom prst="line">
            <a:avLst/>
          </a:prstGeom>
          <a:noFill/>
          <a:ln w="25400">
            <a:solidFill>
              <a:schemeClr val="tx2"/>
            </a:solidFill>
            <a:prstDash val="solid"/>
            <a:tailEnd type="triangle"/>
          </a:ln>
        </p:spPr>
      </p:sp>
      <p:sp>
        <p:nvSpPr>
          <p:cNvPr id="19" name="dag-task-4"/>
          <p:cNvSpPr/>
          <p:nvPr/>
        </p:nvSpPr>
        <p:spPr>
          <a:xfrm>
            <a:off x="9178061" y="2423160"/>
            <a:ext cx="2464994" cy="2743200"/>
          </a:xfrm>
          <a:prstGeom prst="roundRect">
            <a:avLst>
              <a:gd name="adj" fmla="val 4451"/>
            </a:avLst>
          </a:prstGeom>
          <a:solidFill>
            <a:schemeClr val="bg2"/>
          </a:solidFill>
          <a:ln/>
        </p:spPr>
      </p:sp>
      <p:sp>
        <p:nvSpPr>
          <p:cNvPr id="20" name="Text 18"/>
          <p:cNvSpPr txBox="1"/>
          <p:nvPr/>
        </p:nvSpPr>
        <p:spPr>
          <a:xfrm>
            <a:off x="9406661" y="2651760"/>
            <a:ext cx="2007794" cy="411480"/>
          </a:xfrm>
          <a:prstGeom prst="rect">
            <a:avLst/>
          </a:prstGeom>
          <a:noFill/>
          <a:ln/>
        </p:spPr>
        <p:txBody>
          <a:bodyPr wrap="square" lIns="0" tIns="0" rIns="0" bIns="0" rtlCol="0" anchor="t"/>
          <a:lstStyle/>
          <a:p>
            <a:pPr indent="0" marL="0">
              <a:buNone/>
            </a:pPr>
            <a:r>
              <a:rPr lang="en-US" sz="2000" b="1" dirty="0">
                <a:solidFill>
                  <a:schemeClr val="tx1"/>
                </a:solidFill>
              </a:rPr>
              <a:t>Remove orphans</a:t>
            </a:r>
            <a:endParaRPr lang="en-US" sz="2000" dirty="0"/>
          </a:p>
        </p:txBody>
      </p:sp>
      <p:sp>
        <p:nvSpPr>
          <p:cNvPr id="21" name="Text 19"/>
          <p:cNvSpPr txBox="1"/>
          <p:nvPr/>
        </p:nvSpPr>
        <p:spPr>
          <a:xfrm>
            <a:off x="9406661" y="3108960"/>
            <a:ext cx="2007794" cy="548640"/>
          </a:xfrm>
          <a:prstGeom prst="rect">
            <a:avLst/>
          </a:prstGeom>
          <a:noFill/>
          <a:ln/>
        </p:spPr>
        <p:txBody>
          <a:bodyPr wrap="square" lIns="0" tIns="0" rIns="0" bIns="0" rtlCol="0" anchor="t"/>
          <a:lstStyle/>
          <a:p>
            <a:pPr indent="0" marL="0">
              <a:buNone/>
            </a:pPr>
            <a:r>
              <a:rPr lang="en-US" sz="3200" b="1" dirty="0">
                <a:solidFill>
                  <a:schemeClr val="accent1"/>
                </a:solidFill>
              </a:rPr>
              <a:t>67.7 s</a:t>
            </a:r>
            <a:endParaRPr lang="en-US" sz="3200" dirty="0"/>
          </a:p>
        </p:txBody>
      </p:sp>
      <p:sp>
        <p:nvSpPr>
          <p:cNvPr id="22" name="Text 20"/>
          <p:cNvSpPr txBox="1"/>
          <p:nvPr/>
        </p:nvSpPr>
        <p:spPr>
          <a:xfrm>
            <a:off x="9406661" y="3749040"/>
            <a:ext cx="2007794" cy="1325880"/>
          </a:xfrm>
          <a:prstGeom prst="rect">
            <a:avLst/>
          </a:prstGeom>
          <a:noFill/>
          <a:ln/>
        </p:spPr>
        <p:txBody>
          <a:bodyPr wrap="square" lIns="0" tIns="0" rIns="0" bIns="0" rtlCol="0" anchor="t"/>
          <a:lstStyle/>
          <a:p>
            <a:pPr indent="0" marL="0">
              <a:buNone/>
            </a:pPr>
            <a:r>
              <a:rPr lang="en-US" sz="1800" dirty="0">
                <a:solidFill>
                  <a:schemeClr val="tx1"/>
                </a:solidFill>
              </a:rPr>
              <a:t>Delete unreferenced files (24 h minimum age)</a:t>
            </a:r>
            <a:endParaRPr lang="en-US" sz="1800" dirty="0"/>
          </a:p>
        </p:txBody>
      </p:sp>
      <p:sp>
        <p:nvSpPr>
          <p:cNvPr id="23" name="Text 21"/>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1800" dirty="0">
                <a:solidFill>
                  <a:schemeClr val="tx2"/>
                </a:solidFill>
              </a:rPr>
              <a:t>DAG iceberg_layout_optimization wall time: </a:t>
            </a:r>
            <a:pPr indent="0" marL="0">
              <a:buNone/>
            </a:pPr>
            <a:r>
              <a:rPr lang="en-US" sz="1800" b="1" dirty="0">
                <a:solidFill>
                  <a:schemeClr val="tx2"/>
                </a:solidFill>
              </a:rPr>
              <a:t>169.8 s</a:t>
            </a:r>
            <a:pPr indent="0" marL="0">
              <a:buNone/>
            </a:pPr>
            <a:r>
              <a:rPr lang="en-US" sz="1800" dirty="0">
                <a:solidFill>
                  <a:schemeClr val="tx2"/>
                </a:solidFill>
              </a:rPr>
              <a:t>   ·   an hourly iceberg_maintenance DAG does routine compaction</a:t>
            </a:r>
            <a:endParaRPr lang="en-US" sz="1800" dirty="0"/>
          </a:p>
        </p:txBody>
      </p:sp>
      <p:sp>
        <p:nvSpPr>
          <p:cNvPr id="24" name="Text 22"/>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results/benchmark-20261007-181123/summary.md (compaction overhead), docs/architecture.md</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GDPR erasure (extra credit)</a:t>
            </a:r>
            <a:endParaRPr lang="en-US" sz="3400" dirty="0"/>
          </a:p>
        </p:txBody>
      </p:sp>
      <p:sp>
        <p:nvSpPr>
          <p:cNvPr id="3" name="gdpr-step-1"/>
          <p:cNvSpPr/>
          <p:nvPr/>
        </p:nvSpPr>
        <p:spPr>
          <a:xfrm>
            <a:off x="548640" y="1463040"/>
            <a:ext cx="3393338" cy="3017520"/>
          </a:xfrm>
          <a:prstGeom prst="roundRect">
            <a:avLst>
              <a:gd name="adj" fmla="val 3636"/>
            </a:avLst>
          </a:prstGeom>
          <a:solidFill>
            <a:schemeClr val="bg2"/>
          </a:solidFill>
          <a:ln/>
        </p:spPr>
      </p:sp>
      <p:sp>
        <p:nvSpPr>
          <p:cNvPr id="4" name="gdpr-num-1"/>
          <p:cNvSpPr/>
          <p:nvPr/>
        </p:nvSpPr>
        <p:spPr>
          <a:xfrm>
            <a:off x="868680" y="1783080"/>
            <a:ext cx="548640" cy="548640"/>
          </a:xfrm>
          <a:prstGeom prst="ellipse">
            <a:avLst/>
          </a:prstGeom>
          <a:solidFill>
            <a:schemeClr val="accent1"/>
          </a:solidFill>
          <a:ln/>
        </p:spPr>
      </p:sp>
      <p:sp>
        <p:nvSpPr>
          <p:cNvPr id="5" name="Text 3"/>
          <p:cNvSpPr txBox="1"/>
          <p:nvPr/>
        </p:nvSpPr>
        <p:spPr>
          <a:xfrm>
            <a:off x="868680" y="1783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868680" y="2514600"/>
            <a:ext cx="2753258" cy="457200"/>
          </a:xfrm>
          <a:prstGeom prst="rect">
            <a:avLst/>
          </a:prstGeom>
          <a:noFill/>
          <a:ln/>
        </p:spPr>
        <p:txBody>
          <a:bodyPr wrap="square" lIns="0" tIns="0" rIns="0" bIns="0" rtlCol="0" anchor="t"/>
          <a:lstStyle/>
          <a:p>
            <a:pPr indent="0" marL="0">
              <a:buNone/>
            </a:pPr>
            <a:r>
              <a:rPr lang="en-US" sz="2200" b="1" dirty="0">
                <a:solidFill>
                  <a:schemeClr val="tx1"/>
                </a:solidFill>
              </a:rPr>
              <a:t>DELETE in PostgreSQL</a:t>
            </a:r>
            <a:endParaRPr lang="en-US" sz="2200" dirty="0"/>
          </a:p>
        </p:txBody>
      </p:sp>
      <p:sp>
        <p:nvSpPr>
          <p:cNvPr id="7" name="Text 5"/>
          <p:cNvSpPr txBox="1"/>
          <p:nvPr/>
        </p:nvSpPr>
        <p:spPr>
          <a:xfrm>
            <a:off x="868680" y="3063240"/>
            <a:ext cx="2753258" cy="1325880"/>
          </a:xfrm>
          <a:prstGeom prst="rect">
            <a:avLst/>
          </a:prstGeom>
          <a:noFill/>
          <a:ln/>
        </p:spPr>
        <p:txBody>
          <a:bodyPr wrap="square" lIns="0" tIns="0" rIns="0" bIns="0" rtlCol="0" anchor="t"/>
          <a:lstStyle/>
          <a:p>
            <a:pPr indent="0" marL="0">
              <a:buNone/>
            </a:pPr>
            <a:r>
              <a:rPr lang="en-US" sz="1800" dirty="0">
                <a:solidFill>
                  <a:schemeClr val="tx1"/>
                </a:solidFill>
              </a:rPr>
              <a:t>CDC writes a position-delete file. The row disappears from the current snapshot.</a:t>
            </a:r>
            <a:endParaRPr lang="en-US" sz="1800" dirty="0"/>
          </a:p>
        </p:txBody>
      </p:sp>
      <p:sp>
        <p:nvSpPr>
          <p:cNvPr id="8" name="Shape 6"/>
          <p:cNvSpPr/>
          <p:nvPr/>
        </p:nvSpPr>
        <p:spPr>
          <a:xfrm>
            <a:off x="4005986" y="2971800"/>
            <a:ext cx="329184" cy="0"/>
          </a:xfrm>
          <a:prstGeom prst="line">
            <a:avLst/>
          </a:prstGeom>
          <a:noFill/>
          <a:ln w="25400">
            <a:solidFill>
              <a:schemeClr val="tx2"/>
            </a:solidFill>
            <a:prstDash val="solid"/>
            <a:tailEnd type="triangle"/>
          </a:ln>
        </p:spPr>
      </p:sp>
      <p:sp>
        <p:nvSpPr>
          <p:cNvPr id="9" name="gdpr-step-2"/>
          <p:cNvSpPr/>
          <p:nvPr/>
        </p:nvSpPr>
        <p:spPr>
          <a:xfrm>
            <a:off x="4399178" y="1463040"/>
            <a:ext cx="3393338" cy="3017520"/>
          </a:xfrm>
          <a:prstGeom prst="roundRect">
            <a:avLst>
              <a:gd name="adj" fmla="val 3636"/>
            </a:avLst>
          </a:prstGeom>
          <a:solidFill>
            <a:schemeClr val="bg2"/>
          </a:solidFill>
          <a:ln/>
        </p:spPr>
      </p:sp>
      <p:sp>
        <p:nvSpPr>
          <p:cNvPr id="10" name="gdpr-num-2"/>
          <p:cNvSpPr/>
          <p:nvPr/>
        </p:nvSpPr>
        <p:spPr>
          <a:xfrm>
            <a:off x="4719218" y="1783080"/>
            <a:ext cx="548640" cy="548640"/>
          </a:xfrm>
          <a:prstGeom prst="ellipse">
            <a:avLst/>
          </a:prstGeom>
          <a:solidFill>
            <a:schemeClr val="accent1"/>
          </a:solidFill>
          <a:ln/>
        </p:spPr>
      </p:sp>
      <p:sp>
        <p:nvSpPr>
          <p:cNvPr id="11" name="Text 9"/>
          <p:cNvSpPr txBox="1"/>
          <p:nvPr/>
        </p:nvSpPr>
        <p:spPr>
          <a:xfrm>
            <a:off x="4719218" y="1783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4719218" y="2514600"/>
            <a:ext cx="2753258" cy="457200"/>
          </a:xfrm>
          <a:prstGeom prst="rect">
            <a:avLst/>
          </a:prstGeom>
          <a:noFill/>
          <a:ln/>
        </p:spPr>
        <p:txBody>
          <a:bodyPr wrap="square" lIns="0" tIns="0" rIns="0" bIns="0" rtlCol="0" anchor="t"/>
          <a:lstStyle/>
          <a:p>
            <a:pPr indent="0" marL="0">
              <a:buNone/>
            </a:pPr>
            <a:r>
              <a:rPr lang="en-US" sz="2200" b="1" dirty="0">
                <a:solidFill>
                  <a:schemeClr val="tx1"/>
                </a:solidFill>
              </a:rPr>
              <a:t>Still reachable</a:t>
            </a:r>
            <a:endParaRPr lang="en-US" sz="2200" dirty="0"/>
          </a:p>
        </p:txBody>
      </p:sp>
      <p:sp>
        <p:nvSpPr>
          <p:cNvPr id="13" name="Text 11"/>
          <p:cNvSpPr txBox="1"/>
          <p:nvPr/>
        </p:nvSpPr>
        <p:spPr>
          <a:xfrm>
            <a:off x="4719218" y="3063240"/>
            <a:ext cx="2753258" cy="1325880"/>
          </a:xfrm>
          <a:prstGeom prst="rect">
            <a:avLst/>
          </a:prstGeom>
          <a:noFill/>
          <a:ln/>
        </p:spPr>
        <p:txBody>
          <a:bodyPr wrap="square" lIns="0" tIns="0" rIns="0" bIns="0" rtlCol="0" anchor="t"/>
          <a:lstStyle/>
          <a:p>
            <a:pPr indent="0" marL="0">
              <a:buNone/>
            </a:pPr>
            <a:r>
              <a:rPr lang="en-US" sz="1800" dirty="0">
                <a:solidFill>
                  <a:schemeClr val="tx1"/>
                </a:solidFill>
              </a:rPr>
              <a:t>Older snapshots still point at the original data file, so time travel returns the row.</a:t>
            </a:r>
            <a:endParaRPr lang="en-US" sz="1800" dirty="0"/>
          </a:p>
        </p:txBody>
      </p:sp>
      <p:sp>
        <p:nvSpPr>
          <p:cNvPr id="14" name="Shape 12"/>
          <p:cNvSpPr/>
          <p:nvPr/>
        </p:nvSpPr>
        <p:spPr>
          <a:xfrm>
            <a:off x="7856525" y="2971800"/>
            <a:ext cx="329184" cy="0"/>
          </a:xfrm>
          <a:prstGeom prst="line">
            <a:avLst/>
          </a:prstGeom>
          <a:noFill/>
          <a:ln w="25400">
            <a:solidFill>
              <a:schemeClr val="tx2"/>
            </a:solidFill>
            <a:prstDash val="solid"/>
            <a:tailEnd type="triangle"/>
          </a:ln>
        </p:spPr>
      </p:sp>
      <p:sp>
        <p:nvSpPr>
          <p:cNvPr id="15" name="gdpr-step-3"/>
          <p:cNvSpPr/>
          <p:nvPr/>
        </p:nvSpPr>
        <p:spPr>
          <a:xfrm>
            <a:off x="8249717" y="1463040"/>
            <a:ext cx="3393338" cy="3017520"/>
          </a:xfrm>
          <a:prstGeom prst="roundRect">
            <a:avLst>
              <a:gd name="adj" fmla="val 3636"/>
            </a:avLst>
          </a:prstGeom>
          <a:solidFill>
            <a:schemeClr val="accent1"/>
          </a:solidFill>
          <a:ln/>
        </p:spPr>
      </p:sp>
      <p:sp>
        <p:nvSpPr>
          <p:cNvPr id="16" name="gdpr-num-3"/>
          <p:cNvSpPr/>
          <p:nvPr/>
        </p:nvSpPr>
        <p:spPr>
          <a:xfrm>
            <a:off x="8569757" y="1783080"/>
            <a:ext cx="548640" cy="548640"/>
          </a:xfrm>
          <a:prstGeom prst="ellipse">
            <a:avLst/>
          </a:prstGeom>
          <a:solidFill>
            <a:schemeClr val="bg1"/>
          </a:solidFill>
          <a:ln/>
        </p:spPr>
      </p:sp>
      <p:sp>
        <p:nvSpPr>
          <p:cNvPr id="17" name="Text 15"/>
          <p:cNvSpPr txBox="1"/>
          <p:nvPr/>
        </p:nvSpPr>
        <p:spPr>
          <a:xfrm>
            <a:off x="8569757" y="1783080"/>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18" name="Text 16"/>
          <p:cNvSpPr txBox="1"/>
          <p:nvPr/>
        </p:nvSpPr>
        <p:spPr>
          <a:xfrm>
            <a:off x="8569757" y="2514600"/>
            <a:ext cx="2753258" cy="457200"/>
          </a:xfrm>
          <a:prstGeom prst="rect">
            <a:avLst/>
          </a:prstGeom>
          <a:noFill/>
          <a:ln/>
        </p:spPr>
        <p:txBody>
          <a:bodyPr wrap="square" lIns="0" tIns="0" rIns="0" bIns="0" rtlCol="0" anchor="t"/>
          <a:lstStyle/>
          <a:p>
            <a:pPr indent="0" marL="0">
              <a:buNone/>
            </a:pPr>
            <a:r>
              <a:rPr lang="en-US" sz="2200" b="1" dirty="0">
                <a:solidFill>
                  <a:schemeClr val="bg1"/>
                </a:solidFill>
              </a:rPr>
              <a:t>Purge DAG</a:t>
            </a:r>
            <a:endParaRPr lang="en-US" sz="2200" dirty="0"/>
          </a:p>
        </p:txBody>
      </p:sp>
      <p:sp>
        <p:nvSpPr>
          <p:cNvPr id="19" name="Text 17"/>
          <p:cNvSpPr txBox="1"/>
          <p:nvPr/>
        </p:nvSpPr>
        <p:spPr>
          <a:xfrm>
            <a:off x="8569757" y="3063240"/>
            <a:ext cx="2753258" cy="1325880"/>
          </a:xfrm>
          <a:prstGeom prst="rect">
            <a:avLst/>
          </a:prstGeom>
          <a:noFill/>
          <a:ln/>
        </p:spPr>
        <p:txBody>
          <a:bodyPr wrap="square" lIns="0" tIns="0" rIns="0" bIns="0" rtlCol="0" anchor="t"/>
          <a:lstStyle/>
          <a:p>
            <a:pPr indent="0" marL="0">
              <a:buNone/>
            </a:pPr>
            <a:r>
              <a:rPr lang="en-US" sz="1800" dirty="0">
                <a:solidFill>
                  <a:schemeClr val="bg1"/>
                </a:solidFill>
              </a:rPr>
              <a:t>iceberg_gdpr_purge rewrites the data files and expires history. The data is physically gone.</a:t>
            </a:r>
            <a:endParaRPr lang="en-US" sz="1800" dirty="0"/>
          </a:p>
        </p:txBody>
      </p:sp>
      <p:sp>
        <p:nvSpPr>
          <p:cNvPr id="20" name="Text 18"/>
          <p:cNvSpPr txBox="1"/>
          <p:nvPr/>
        </p:nvSpPr>
        <p:spPr>
          <a:xfrm>
            <a:off x="548640" y="4846320"/>
            <a:ext cx="11094415" cy="731520"/>
          </a:xfrm>
          <a:prstGeom prst="rect">
            <a:avLst/>
          </a:prstGeom>
          <a:noFill/>
          <a:ln/>
        </p:spPr>
        <p:txBody>
          <a:bodyPr wrap="square" lIns="0" tIns="0" rIns="0" bIns="0" rtlCol="0" anchor="t"/>
          <a:lstStyle/>
          <a:p>
            <a:pPr indent="0" marL="0">
              <a:buNone/>
            </a:pPr>
            <a:r>
              <a:rPr lang="en-US" sz="2000" i="1" dirty="0">
                <a:solidFill>
                  <a:schemeClr val="tx2"/>
                </a:solidFill>
              </a:rPr>
              <a:t>A merge-on-read delete hides a row; only rewriting the files and expiring the snapshots erases it.</a:t>
            </a:r>
            <a:endParaRPr lang="en-US" sz="2000" dirty="0"/>
          </a:p>
        </p:txBody>
      </p:sp>
      <p:sp>
        <p:nvSpPr>
          <p:cNvPr id="21" name="Text 19"/>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scripts/demos/gdpr_delete.sh, DAG iceberg_gdpr_purge</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Monitoring and alerting</a:t>
            </a:r>
            <a:endParaRPr lang="en-US" sz="3400" dirty="0"/>
          </a:p>
        </p:txBody>
      </p:sp>
      <p:pic>
        <p:nvPicPr>
          <p:cNvPr id="3" name="grafana-screenshot" descr="Grafana dashboard: freshness, ingest rate, connector state, slot lag, file counts">    </p:cNvPr>
          <p:cNvPicPr>
            <a:picLocks noChangeAspect="1"/>
          </p:cNvPicPr>
          <p:nvPr/>
        </p:nvPicPr>
        <p:blipFill>
          <a:blip r:embed="rId1"/>
          <a:stretch>
            <a:fillRect/>
          </a:stretch>
        </p:blipFill>
        <p:spPr>
          <a:xfrm>
            <a:off x="548640" y="1371600"/>
            <a:ext cx="6583680" cy="3291840"/>
          </a:xfrm>
          <a:prstGeom prst="rect">
            <a:avLst/>
          </a:prstGeom>
        </p:spPr>
      </p:pic>
      <p:sp>
        <p:nvSpPr>
          <p:cNvPr id="4" name="grafana-frame"/>
          <p:cNvSpPr/>
          <p:nvPr/>
        </p:nvSpPr>
        <p:spPr>
          <a:xfrm>
            <a:off x="548640" y="1371600"/>
            <a:ext cx="6583680" cy="3291840"/>
          </a:xfrm>
          <a:prstGeom prst="rect">
            <a:avLst/>
          </a:prstGeom>
          <a:ln w="12700">
            <a:solidFill>
              <a:schemeClr val="accent3"/>
            </a:solidFill>
            <a:prstDash val="solid"/>
          </a:ln>
        </p:spPr>
      </p:sp>
      <p:sp>
        <p:nvSpPr>
          <p:cNvPr id="5" name="Text 2"/>
          <p:cNvSpPr txBox="1"/>
          <p:nvPr/>
        </p:nvSpPr>
        <p:spPr>
          <a:xfrm>
            <a:off x="548640" y="4773168"/>
            <a:ext cx="6583680" cy="548640"/>
          </a:xfrm>
          <a:prstGeom prst="rect">
            <a:avLst/>
          </a:prstGeom>
          <a:noFill/>
          <a:ln/>
        </p:spPr>
        <p:txBody>
          <a:bodyPr wrap="square" lIns="0" tIns="0" rIns="0" bIns="0" rtlCol="0" anchor="t"/>
          <a:lstStyle/>
          <a:p>
            <a:pPr indent="0" marL="0">
              <a:buNone/>
            </a:pPr>
            <a:r>
              <a:rPr lang="en-US" sz="1400" dirty="0">
                <a:solidFill>
                  <a:schemeClr val="tx2"/>
                </a:solidFill>
              </a:rPr>
              <a:t>Grafana "Lakehouse CDC pipeline" dashboard (16 panels) fed by a custom exporter</a:t>
            </a:r>
            <a:endParaRPr lang="en-US" sz="1400" dirty="0"/>
          </a:p>
        </p:txBody>
      </p:sp>
      <p:sp>
        <p:nvSpPr>
          <p:cNvPr id="6" name="Text 3"/>
          <p:cNvSpPr txBox="1"/>
          <p:nvPr/>
        </p:nvSpPr>
        <p:spPr>
          <a:xfrm>
            <a:off x="7498080" y="1325880"/>
            <a:ext cx="4144975" cy="411480"/>
          </a:xfrm>
          <a:prstGeom prst="rect">
            <a:avLst/>
          </a:prstGeom>
          <a:noFill/>
          <a:ln/>
        </p:spPr>
        <p:txBody>
          <a:bodyPr wrap="square" lIns="0" tIns="0" rIns="0" bIns="0" rtlCol="0" anchor="t"/>
          <a:lstStyle/>
          <a:p>
            <a:pPr indent="0" marL="0">
              <a:buNone/>
            </a:pPr>
            <a:r>
              <a:rPr lang="en-US" sz="2200" b="1" dirty="0">
                <a:solidFill>
                  <a:schemeClr val="tx1"/>
                </a:solidFill>
              </a:rPr>
              <a:t>Prometheus alert rules</a:t>
            </a:r>
            <a:endParaRPr lang="en-US" sz="2200" dirty="0"/>
          </a:p>
        </p:txBody>
      </p:sp>
      <p:sp>
        <p:nvSpPr>
          <p:cNvPr id="7" name="alert-CdcFreshnessHigh"/>
          <p:cNvSpPr/>
          <p:nvPr/>
        </p:nvSpPr>
        <p:spPr>
          <a:xfrm>
            <a:off x="7498080" y="1874520"/>
            <a:ext cx="4144975" cy="694944"/>
          </a:xfrm>
          <a:prstGeom prst="roundRect">
            <a:avLst>
              <a:gd name="adj" fmla="val 15789"/>
            </a:avLst>
          </a:prstGeom>
          <a:solidFill>
            <a:schemeClr val="bg2"/>
          </a:solidFill>
          <a:ln/>
        </p:spPr>
      </p:sp>
      <p:sp>
        <p:nvSpPr>
          <p:cNvPr id="8" name="Text 5"/>
          <p:cNvSpPr txBox="1"/>
          <p:nvPr/>
        </p:nvSpPr>
        <p:spPr>
          <a:xfrm>
            <a:off x="7680960" y="1874520"/>
            <a:ext cx="3779215" cy="694944"/>
          </a:xfrm>
          <a:prstGeom prst="rect">
            <a:avLst/>
          </a:prstGeom>
          <a:noFill/>
          <a:ln/>
        </p:spPr>
        <p:txBody>
          <a:bodyPr wrap="square" lIns="0" tIns="0" rIns="0" bIns="0" rtlCol="0" anchor="ctr"/>
          <a:lstStyle/>
          <a:p>
            <a:pPr indent="0" marL="0">
              <a:buNone/>
            </a:pPr>
            <a:r>
              <a:rPr lang="en-US" sz="1600" b="1" dirty="0">
                <a:solidFill>
                  <a:schemeClr val="tx1"/>
                </a:solidFill>
              </a:rPr>
              <a:t>CdcFreshnessHigh</a:t>
            </a:r>
            <a:endParaRPr lang="en-US" sz="1800" dirty="0"/>
          </a:p>
          <a:p>
            <a:pPr indent="0" marL="0">
              <a:buNone/>
            </a:pPr>
            <a:r>
              <a:rPr lang="en-US" sz="1600" dirty="0">
                <a:solidFill>
                  <a:schemeClr val="tx1"/>
                </a:solidFill>
              </a:rPr>
              <a:t>freshness &gt; 120 s for 2 min</a:t>
            </a:r>
            <a:endParaRPr lang="en-US" sz="1800" dirty="0"/>
          </a:p>
        </p:txBody>
      </p:sp>
      <p:sp>
        <p:nvSpPr>
          <p:cNvPr id="9" name="alert-DebeziumConnectorDown"/>
          <p:cNvSpPr/>
          <p:nvPr/>
        </p:nvSpPr>
        <p:spPr>
          <a:xfrm>
            <a:off x="7498080" y="2660904"/>
            <a:ext cx="4144975" cy="694944"/>
          </a:xfrm>
          <a:prstGeom prst="roundRect">
            <a:avLst>
              <a:gd name="adj" fmla="val 15789"/>
            </a:avLst>
          </a:prstGeom>
          <a:solidFill>
            <a:schemeClr val="bg2"/>
          </a:solidFill>
          <a:ln/>
        </p:spPr>
      </p:sp>
      <p:sp>
        <p:nvSpPr>
          <p:cNvPr id="10" name="Text 7"/>
          <p:cNvSpPr txBox="1"/>
          <p:nvPr/>
        </p:nvSpPr>
        <p:spPr>
          <a:xfrm>
            <a:off x="7680960" y="2660904"/>
            <a:ext cx="3779215" cy="694944"/>
          </a:xfrm>
          <a:prstGeom prst="rect">
            <a:avLst/>
          </a:prstGeom>
          <a:noFill/>
          <a:ln/>
        </p:spPr>
        <p:txBody>
          <a:bodyPr wrap="square" lIns="0" tIns="0" rIns="0" bIns="0" rtlCol="0" anchor="ctr"/>
          <a:lstStyle/>
          <a:p>
            <a:pPr indent="0" marL="0">
              <a:buNone/>
            </a:pPr>
            <a:r>
              <a:rPr lang="en-US" sz="1600" b="1" dirty="0">
                <a:solidFill>
                  <a:schemeClr val="tx1"/>
                </a:solidFill>
              </a:rPr>
              <a:t>DebeziumConnectorDown</a:t>
            </a:r>
            <a:endParaRPr lang="en-US" sz="1800" dirty="0"/>
          </a:p>
          <a:p>
            <a:pPr indent="0" marL="0">
              <a:buNone/>
            </a:pPr>
            <a:r>
              <a:rPr lang="en-US" sz="1600" dirty="0">
                <a:solidFill>
                  <a:schemeClr val="tx1"/>
                </a:solidFill>
              </a:rPr>
              <a:t>connector not RUNNING</a:t>
            </a:r>
            <a:endParaRPr lang="en-US" sz="1800" dirty="0"/>
          </a:p>
        </p:txBody>
      </p:sp>
      <p:sp>
        <p:nvSpPr>
          <p:cNvPr id="11" name="alert-ReplicationSlotLagHigh"/>
          <p:cNvSpPr/>
          <p:nvPr/>
        </p:nvSpPr>
        <p:spPr>
          <a:xfrm>
            <a:off x="7498080" y="3447288"/>
            <a:ext cx="4144975" cy="694944"/>
          </a:xfrm>
          <a:prstGeom prst="roundRect">
            <a:avLst>
              <a:gd name="adj" fmla="val 15789"/>
            </a:avLst>
          </a:prstGeom>
          <a:solidFill>
            <a:schemeClr val="bg2"/>
          </a:solidFill>
          <a:ln/>
        </p:spPr>
      </p:sp>
      <p:sp>
        <p:nvSpPr>
          <p:cNvPr id="12" name="Text 9"/>
          <p:cNvSpPr txBox="1"/>
          <p:nvPr/>
        </p:nvSpPr>
        <p:spPr>
          <a:xfrm>
            <a:off x="7680960" y="3447288"/>
            <a:ext cx="3779215" cy="694944"/>
          </a:xfrm>
          <a:prstGeom prst="rect">
            <a:avLst/>
          </a:prstGeom>
          <a:noFill/>
          <a:ln/>
        </p:spPr>
        <p:txBody>
          <a:bodyPr wrap="square" lIns="0" tIns="0" rIns="0" bIns="0" rtlCol="0" anchor="ctr"/>
          <a:lstStyle/>
          <a:p>
            <a:pPr indent="0" marL="0">
              <a:buNone/>
            </a:pPr>
            <a:r>
              <a:rPr lang="en-US" sz="1600" b="1" dirty="0">
                <a:solidFill>
                  <a:schemeClr val="tx1"/>
                </a:solidFill>
              </a:rPr>
              <a:t>ReplicationSlotLagHigh</a:t>
            </a:r>
            <a:endParaRPr lang="en-US" sz="1800" dirty="0"/>
          </a:p>
          <a:p>
            <a:pPr indent="0" marL="0">
              <a:buNone/>
            </a:pPr>
            <a:r>
              <a:rPr lang="en-US" sz="1600" dirty="0">
                <a:solidFill>
                  <a:schemeClr val="tx1"/>
                </a:solidFill>
              </a:rPr>
              <a:t>retained WAL &gt; 512 MB</a:t>
            </a:r>
            <a:endParaRPr lang="en-US" sz="1800" dirty="0"/>
          </a:p>
        </p:txBody>
      </p:sp>
      <p:sp>
        <p:nvSpPr>
          <p:cNvPr id="13" name="alert-SmallFilesAccumulating"/>
          <p:cNvSpPr/>
          <p:nvPr/>
        </p:nvSpPr>
        <p:spPr>
          <a:xfrm>
            <a:off x="7498080" y="4233672"/>
            <a:ext cx="4144975" cy="694944"/>
          </a:xfrm>
          <a:prstGeom prst="roundRect">
            <a:avLst>
              <a:gd name="adj" fmla="val 15789"/>
            </a:avLst>
          </a:prstGeom>
          <a:solidFill>
            <a:schemeClr val="bg2"/>
          </a:solidFill>
          <a:ln/>
        </p:spPr>
      </p:sp>
      <p:sp>
        <p:nvSpPr>
          <p:cNvPr id="14" name="Text 11"/>
          <p:cNvSpPr txBox="1"/>
          <p:nvPr/>
        </p:nvSpPr>
        <p:spPr>
          <a:xfrm>
            <a:off x="7680960" y="4233672"/>
            <a:ext cx="3779215" cy="694944"/>
          </a:xfrm>
          <a:prstGeom prst="rect">
            <a:avLst/>
          </a:prstGeom>
          <a:noFill/>
          <a:ln/>
        </p:spPr>
        <p:txBody>
          <a:bodyPr wrap="square" lIns="0" tIns="0" rIns="0" bIns="0" rtlCol="0" anchor="ctr"/>
          <a:lstStyle/>
          <a:p>
            <a:pPr indent="0" marL="0">
              <a:buNone/>
            </a:pPr>
            <a:r>
              <a:rPr lang="en-US" sz="1600" b="1" dirty="0">
                <a:solidFill>
                  <a:schemeClr val="tx1"/>
                </a:solidFill>
              </a:rPr>
              <a:t>SmallFilesAccumulating</a:t>
            </a:r>
            <a:endParaRPr lang="en-US" sz="1800" dirty="0"/>
          </a:p>
          <a:p>
            <a:pPr indent="0" marL="0">
              <a:buNone/>
            </a:pPr>
            <a:r>
              <a:rPr lang="en-US" sz="1600" dirty="0">
                <a:solidFill>
                  <a:schemeClr val="tx1"/>
                </a:solidFill>
              </a:rPr>
              <a:t>&gt; 500 data files, avg &lt; 8 MB</a:t>
            </a:r>
            <a:endParaRPr lang="en-US" sz="1800" dirty="0"/>
          </a:p>
        </p:txBody>
      </p:sp>
      <p:sp>
        <p:nvSpPr>
          <p:cNvPr id="15" name="alert-StreamingStalled"/>
          <p:cNvSpPr/>
          <p:nvPr/>
        </p:nvSpPr>
        <p:spPr>
          <a:xfrm>
            <a:off x="7498080" y="5020056"/>
            <a:ext cx="4144975" cy="694944"/>
          </a:xfrm>
          <a:prstGeom prst="roundRect">
            <a:avLst>
              <a:gd name="adj" fmla="val 15789"/>
            </a:avLst>
          </a:prstGeom>
          <a:solidFill>
            <a:schemeClr val="bg2"/>
          </a:solidFill>
          <a:ln/>
        </p:spPr>
      </p:sp>
      <p:sp>
        <p:nvSpPr>
          <p:cNvPr id="16" name="Text 13"/>
          <p:cNvSpPr txBox="1"/>
          <p:nvPr/>
        </p:nvSpPr>
        <p:spPr>
          <a:xfrm>
            <a:off x="7680960" y="5020056"/>
            <a:ext cx="3779215" cy="694944"/>
          </a:xfrm>
          <a:prstGeom prst="rect">
            <a:avLst/>
          </a:prstGeom>
          <a:noFill/>
          <a:ln/>
        </p:spPr>
        <p:txBody>
          <a:bodyPr wrap="square" lIns="0" tIns="0" rIns="0" bIns="0" rtlCol="0" anchor="ctr"/>
          <a:lstStyle/>
          <a:p>
            <a:pPr indent="0" marL="0">
              <a:buNone/>
            </a:pPr>
            <a:r>
              <a:rPr lang="en-US" sz="1600" b="1" dirty="0">
                <a:solidFill>
                  <a:schemeClr val="tx1"/>
                </a:solidFill>
              </a:rPr>
              <a:t>StreamingStalled</a:t>
            </a:r>
            <a:endParaRPr lang="en-US" sz="1800" dirty="0"/>
          </a:p>
          <a:p>
            <a:pPr indent="0" marL="0">
              <a:buNone/>
            </a:pPr>
            <a:r>
              <a:rPr lang="en-US" sz="1600" dirty="0">
                <a:solidFill>
                  <a:schemeClr val="tx1"/>
                </a:solidFill>
              </a:rPr>
              <a:t>no batch for 10 min, changes pending</a:t>
            </a:r>
            <a:endParaRPr lang="en-US" sz="1800" dirty="0"/>
          </a:p>
        </p:txBody>
      </p:sp>
      <p:sp>
        <p:nvSpPr>
          <p:cNvPr id="17" name="Text 14"/>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docs/report/grafana_dashboard.png, config/monitoring/alerts.yml</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Results: query latency</a:t>
            </a:r>
            <a:endParaRPr lang="en-US" sz="3400" dirty="0"/>
          </a:p>
        </p:txBody>
      </p:sp>
      <p:pic>
        <p:nvPicPr>
          <p:cNvPr id="3" name="chart-query-latency" descr="Trino query latency before vs after optimisation">    </p:cNvPr>
          <p:cNvPicPr>
            <a:picLocks noChangeAspect="1"/>
          </p:cNvPicPr>
          <p:nvPr/>
        </p:nvPicPr>
        <p:blipFill>
          <a:blip r:embed="rId1"/>
          <a:stretch>
            <a:fillRect/>
          </a:stretch>
        </p:blipFill>
        <p:spPr>
          <a:xfrm>
            <a:off x="548640" y="1325880"/>
            <a:ext cx="7589520" cy="3415284"/>
          </a:xfrm>
          <a:prstGeom prst="rect">
            <a:avLst/>
          </a:prstGeom>
        </p:spPr>
      </p:pic>
      <p:sp>
        <p:nvSpPr>
          <p:cNvPr id="4" name="stat-total"/>
          <p:cNvSpPr txBox="1"/>
          <p:nvPr/>
        </p:nvSpPr>
        <p:spPr>
          <a:xfrm>
            <a:off x="8549640" y="1325880"/>
            <a:ext cx="3093415" cy="548640"/>
          </a:xfrm>
          <a:prstGeom prst="rect">
            <a:avLst/>
          </a:prstGeom>
          <a:noFill/>
          <a:ln/>
        </p:spPr>
        <p:txBody>
          <a:bodyPr wrap="square" lIns="0" tIns="0" rIns="0" bIns="0" rtlCol="0" anchor="t"/>
          <a:lstStyle/>
          <a:p>
            <a:pPr indent="0" marL="0">
              <a:buNone/>
            </a:pPr>
            <a:r>
              <a:rPr lang="en-US" sz="3600" b="1" dirty="0">
                <a:solidFill>
                  <a:schemeClr val="accent1"/>
                </a:solidFill>
              </a:rPr>
              <a:t>3.25×</a:t>
            </a:r>
            <a:endParaRPr lang="en-US" sz="3600" dirty="0"/>
          </a:p>
        </p:txBody>
      </p:sp>
      <p:sp>
        <p:nvSpPr>
          <p:cNvPr id="5" name="Text 2"/>
          <p:cNvSpPr txBox="1"/>
          <p:nvPr/>
        </p:nvSpPr>
        <p:spPr>
          <a:xfrm>
            <a:off x="8549640" y="1892808"/>
            <a:ext cx="3093415" cy="822960"/>
          </a:xfrm>
          <a:prstGeom prst="rect">
            <a:avLst/>
          </a:prstGeom>
          <a:noFill/>
          <a:ln/>
        </p:spPr>
        <p:txBody>
          <a:bodyPr wrap="square" lIns="0" tIns="0" rIns="0" bIns="0" rtlCol="0" anchor="t"/>
          <a:lstStyle/>
          <a:p>
            <a:pPr indent="0" marL="0">
              <a:buNone/>
            </a:pPr>
            <a:r>
              <a:rPr lang="en-US" sz="1800" dirty="0">
                <a:solidFill>
                  <a:schemeClr val="tx1"/>
                </a:solidFill>
              </a:rPr>
              <a:t>faster overall: 21.6 s → 6.6 s for the 8 queries</a:t>
            </a:r>
            <a:endParaRPr lang="en-US" sz="1800" dirty="0"/>
          </a:p>
        </p:txBody>
      </p:sp>
      <p:sp>
        <p:nvSpPr>
          <p:cNvPr id="6" name="stat-lookup"/>
          <p:cNvSpPr txBox="1"/>
          <p:nvPr/>
        </p:nvSpPr>
        <p:spPr>
          <a:xfrm>
            <a:off x="8549640" y="2788920"/>
            <a:ext cx="3093415" cy="548640"/>
          </a:xfrm>
          <a:prstGeom prst="rect">
            <a:avLst/>
          </a:prstGeom>
          <a:noFill/>
          <a:ln/>
        </p:spPr>
        <p:txBody>
          <a:bodyPr wrap="square" lIns="0" tIns="0" rIns="0" bIns="0" rtlCol="0" anchor="t"/>
          <a:lstStyle/>
          <a:p>
            <a:pPr indent="0" marL="0">
              <a:buNone/>
            </a:pPr>
            <a:r>
              <a:rPr lang="en-US" sz="3600" b="1" dirty="0">
                <a:solidFill>
                  <a:schemeClr val="accent1"/>
                </a:solidFill>
              </a:rPr>
              <a:t>8.81×</a:t>
            </a:r>
            <a:endParaRPr lang="en-US" sz="3600" dirty="0"/>
          </a:p>
        </p:txBody>
      </p:sp>
      <p:sp>
        <p:nvSpPr>
          <p:cNvPr id="7" name="Text 4"/>
          <p:cNvSpPr txBox="1"/>
          <p:nvPr/>
        </p:nvSpPr>
        <p:spPr>
          <a:xfrm>
            <a:off x="8549640" y="3355848"/>
            <a:ext cx="3093415" cy="822960"/>
          </a:xfrm>
          <a:prstGeom prst="rect">
            <a:avLst/>
          </a:prstGeom>
          <a:noFill/>
          <a:ln/>
        </p:spPr>
        <p:txBody>
          <a:bodyPr wrap="square" lIns="0" tIns="0" rIns="0" bIns="0" rtlCol="0" anchor="t"/>
          <a:lstStyle/>
          <a:p>
            <a:pPr indent="0" marL="0">
              <a:buNone/>
            </a:pPr>
            <a:r>
              <a:rPr lang="en-US" sz="1800" dirty="0">
                <a:solidFill>
                  <a:schemeClr val="tx1"/>
                </a:solidFill>
              </a:rPr>
              <a:t>point lookup: 971 → 110 ms</a:t>
            </a:r>
            <a:endParaRPr lang="en-US" sz="1800" dirty="0"/>
          </a:p>
        </p:txBody>
      </p:sp>
      <p:sp>
        <p:nvSpPr>
          <p:cNvPr id="8" name="stat-pruning"/>
          <p:cNvSpPr txBox="1"/>
          <p:nvPr/>
        </p:nvSpPr>
        <p:spPr>
          <a:xfrm>
            <a:off x="8549640" y="3977640"/>
            <a:ext cx="3093415" cy="548640"/>
          </a:xfrm>
          <a:prstGeom prst="rect">
            <a:avLst/>
          </a:prstGeom>
          <a:noFill/>
          <a:ln/>
        </p:spPr>
        <p:txBody>
          <a:bodyPr wrap="square" lIns="0" tIns="0" rIns="0" bIns="0" rtlCol="0" anchor="t"/>
          <a:lstStyle/>
          <a:p>
            <a:pPr indent="0" marL="0">
              <a:buNone/>
            </a:pPr>
            <a:r>
              <a:rPr lang="en-US" sz="3600" b="1" dirty="0">
                <a:solidFill>
                  <a:schemeClr val="accent1"/>
                </a:solidFill>
              </a:rPr>
              <a:t>19,488</a:t>
            </a:r>
            <a:endParaRPr lang="en-US" sz="3600" dirty="0"/>
          </a:p>
        </p:txBody>
      </p:sp>
      <p:sp>
        <p:nvSpPr>
          <p:cNvPr id="9" name="Text 6"/>
          <p:cNvSpPr txBox="1"/>
          <p:nvPr/>
        </p:nvSpPr>
        <p:spPr>
          <a:xfrm>
            <a:off x="8549640" y="4544568"/>
            <a:ext cx="3093415" cy="822960"/>
          </a:xfrm>
          <a:prstGeom prst="rect">
            <a:avLst/>
          </a:prstGeom>
          <a:noFill/>
          <a:ln/>
        </p:spPr>
        <p:txBody>
          <a:bodyPr wrap="square" lIns="0" tIns="0" rIns="0" bIns="0" rtlCol="0" anchor="t"/>
          <a:lstStyle/>
          <a:p>
            <a:pPr indent="0" marL="0">
              <a:buNone/>
            </a:pPr>
            <a:r>
              <a:rPr lang="en-US" sz="1800" dirty="0">
                <a:solidFill>
                  <a:schemeClr val="tx1"/>
                </a:solidFill>
              </a:rPr>
              <a:t>rows scanned for one month, down from 1,513,192</a:t>
            </a:r>
            <a:endParaRPr lang="en-US" sz="1800" dirty="0"/>
          </a:p>
        </p:txBody>
      </p:sp>
      <p:sp>
        <p:nvSpPr>
          <p:cNvPr id="10" name="Text 7"/>
          <p:cNvSpPr txBox="1"/>
          <p:nvPr/>
        </p:nvSpPr>
        <p:spPr>
          <a:xfrm>
            <a:off x="548640" y="4969764"/>
            <a:ext cx="7589520" cy="731520"/>
          </a:xfrm>
          <a:prstGeom prst="rect">
            <a:avLst/>
          </a:prstGeom>
          <a:noFill/>
          <a:ln/>
        </p:spPr>
        <p:txBody>
          <a:bodyPr wrap="square" lIns="0" tIns="0" rIns="0" bIns="0" rtlCol="0" anchor="t"/>
          <a:lstStyle/>
          <a:p>
            <a:pPr indent="0" marL="0">
              <a:buNone/>
            </a:pPr>
            <a:r>
              <a:rPr lang="en-US" sz="1800" dirty="0">
                <a:solidFill>
                  <a:schemeClr val="tx2"/>
                </a:solidFill>
              </a:rPr>
              <a:t>Full-table aggregate (q06) is flat at 0.95×: it reads every row either way, so there is nothing to prune.</a:t>
            </a:r>
            <a:endParaRPr lang="en-US" sz="1800" dirty="0"/>
          </a:p>
        </p:txBody>
      </p:sp>
      <p:sp>
        <p:nvSpPr>
          <p:cNvPr id="11" name="Text 8"/>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results/benchmark-20261007-181123/summary.md (Trino, median of 5 runs)</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Results: small files and storage</a:t>
            </a:r>
            <a:endParaRPr lang="en-US" sz="3400" dirty="0"/>
          </a:p>
        </p:txBody>
      </p:sp>
      <p:pic>
        <p:nvPicPr>
          <p:cNvPr id="3" name="chart-small-files" descr="Live data files, delete files and average file size before vs after">    </p:cNvPr>
          <p:cNvPicPr>
            <a:picLocks noChangeAspect="1"/>
          </p:cNvPicPr>
          <p:nvPr/>
        </p:nvPicPr>
        <p:blipFill>
          <a:blip r:embed="rId1"/>
          <a:stretch>
            <a:fillRect/>
          </a:stretch>
        </p:blipFill>
        <p:spPr>
          <a:xfrm>
            <a:off x="548640" y="1280160"/>
            <a:ext cx="7680960" cy="2363372"/>
          </a:xfrm>
          <a:prstGeom prst="rect">
            <a:avLst/>
          </a:prstGeom>
        </p:spPr>
      </p:pic>
      <p:pic>
        <p:nvPicPr>
          <p:cNvPr id="4" name="chart-storage" descr="Object storage footprint before vs after">    </p:cNvPr>
          <p:cNvPicPr>
            <a:picLocks noChangeAspect="1"/>
          </p:cNvPicPr>
          <p:nvPr/>
        </p:nvPicPr>
        <p:blipFill>
          <a:blip r:embed="rId2"/>
          <a:stretch>
            <a:fillRect/>
          </a:stretch>
        </p:blipFill>
        <p:spPr>
          <a:xfrm>
            <a:off x="548640" y="3872132"/>
            <a:ext cx="3749040" cy="2142309"/>
          </a:xfrm>
          <a:prstGeom prst="rect">
            <a:avLst/>
          </a:prstGeom>
        </p:spPr>
      </p:pic>
      <p:sp>
        <p:nvSpPr>
          <p:cNvPr id="5" name="Text 1"/>
          <p:cNvSpPr txBox="1"/>
          <p:nvPr/>
        </p:nvSpPr>
        <p:spPr>
          <a:xfrm>
            <a:off x="4572000" y="4055012"/>
            <a:ext cx="3657600" cy="1828800"/>
          </a:xfrm>
          <a:prstGeom prst="rect">
            <a:avLst/>
          </a:prstGeom>
          <a:noFill/>
          <a:ln/>
        </p:spPr>
        <p:txBody>
          <a:bodyPr wrap="square" lIns="0" tIns="0" rIns="0" bIns="0" rtlCol="0" anchor="t"/>
          <a:lstStyle/>
          <a:p>
            <a:pPr indent="0" marL="0">
              <a:buNone/>
            </a:pPr>
            <a:r>
              <a:rPr lang="en-US" sz="1800" b="1" dirty="0">
                <a:solidFill>
                  <a:schemeClr val="tx2"/>
                </a:solidFill>
              </a:rPr>
              <a:t>Trade-off: </a:t>
            </a:r>
            <a:pPr indent="0" marL="0">
              <a:buNone/>
            </a:pPr>
            <a:r>
              <a:rPr lang="en-US" sz="1800" dirty="0">
                <a:solidFill>
                  <a:schemeClr val="tx2"/>
                </a:solidFill>
              </a:rPr>
              <a:t>orders went from 57 to 80 files and +6.2% storage (44.8 → 47.6 MB), because monthly partitions split it into smaller files.</a:t>
            </a:r>
            <a:endParaRPr lang="en-US" sz="1800" dirty="0"/>
          </a:p>
        </p:txBody>
      </p:sp>
      <p:sp>
        <p:nvSpPr>
          <p:cNvPr id="6" name="stat-deletes"/>
          <p:cNvSpPr txBox="1"/>
          <p:nvPr/>
        </p:nvSpPr>
        <p:spPr>
          <a:xfrm>
            <a:off x="8595360" y="1280160"/>
            <a:ext cx="3047695" cy="548640"/>
          </a:xfrm>
          <a:prstGeom prst="rect">
            <a:avLst/>
          </a:prstGeom>
          <a:noFill/>
          <a:ln/>
        </p:spPr>
        <p:txBody>
          <a:bodyPr wrap="square" lIns="0" tIns="0" rIns="0" bIns="0" rtlCol="0" anchor="t"/>
          <a:lstStyle/>
          <a:p>
            <a:pPr indent="0" marL="0">
              <a:buNone/>
            </a:pPr>
            <a:r>
              <a:rPr lang="en-US" sz="3600" b="1" dirty="0">
                <a:solidFill>
                  <a:schemeClr val="accent1"/>
                </a:solidFill>
              </a:rPr>
              <a:t>105 → 0</a:t>
            </a:r>
            <a:endParaRPr lang="en-US" sz="3600" dirty="0"/>
          </a:p>
        </p:txBody>
      </p:sp>
      <p:sp>
        <p:nvSpPr>
          <p:cNvPr id="7" name="Text 3"/>
          <p:cNvSpPr txBox="1"/>
          <p:nvPr/>
        </p:nvSpPr>
        <p:spPr>
          <a:xfrm>
            <a:off x="8595360" y="1847088"/>
            <a:ext cx="3047695" cy="822960"/>
          </a:xfrm>
          <a:prstGeom prst="rect">
            <a:avLst/>
          </a:prstGeom>
          <a:noFill/>
          <a:ln/>
        </p:spPr>
        <p:txBody>
          <a:bodyPr wrap="square" lIns="0" tIns="0" rIns="0" bIns="0" rtlCol="0" anchor="t"/>
          <a:lstStyle/>
          <a:p>
            <a:pPr indent="0" marL="0">
              <a:buNone/>
            </a:pPr>
            <a:r>
              <a:rPr lang="en-US" sz="1800" dirty="0">
                <a:solidFill>
                  <a:schemeClr val="tx1"/>
                </a:solidFill>
              </a:rPr>
              <a:t>live delete files (orders 49, customer 56)</a:t>
            </a:r>
            <a:endParaRPr lang="en-US" sz="1800" dirty="0"/>
          </a:p>
        </p:txBody>
      </p:sp>
      <p:sp>
        <p:nvSpPr>
          <p:cNvPr id="8" name="stat-snapshots"/>
          <p:cNvSpPr txBox="1"/>
          <p:nvPr/>
        </p:nvSpPr>
        <p:spPr>
          <a:xfrm>
            <a:off x="8595360" y="2743200"/>
            <a:ext cx="3047695" cy="548640"/>
          </a:xfrm>
          <a:prstGeom prst="rect">
            <a:avLst/>
          </a:prstGeom>
          <a:noFill/>
          <a:ln/>
        </p:spPr>
        <p:txBody>
          <a:bodyPr wrap="square" lIns="0" tIns="0" rIns="0" bIns="0" rtlCol="0" anchor="t"/>
          <a:lstStyle/>
          <a:p>
            <a:pPr indent="0" marL="0">
              <a:buNone/>
            </a:pPr>
            <a:r>
              <a:rPr lang="en-US" sz="3600" b="1" dirty="0">
                <a:solidFill>
                  <a:schemeClr val="accent1"/>
                </a:solidFill>
              </a:rPr>
              <a:t>57 → 1</a:t>
            </a:r>
            <a:endParaRPr lang="en-US" sz="3600" dirty="0"/>
          </a:p>
        </p:txBody>
      </p:sp>
      <p:sp>
        <p:nvSpPr>
          <p:cNvPr id="9" name="Text 5"/>
          <p:cNvSpPr txBox="1"/>
          <p:nvPr/>
        </p:nvSpPr>
        <p:spPr>
          <a:xfrm>
            <a:off x="8595360" y="3310128"/>
            <a:ext cx="3047695" cy="822960"/>
          </a:xfrm>
          <a:prstGeom prst="rect">
            <a:avLst/>
          </a:prstGeom>
          <a:noFill/>
          <a:ln/>
        </p:spPr>
        <p:txBody>
          <a:bodyPr wrap="square" lIns="0" tIns="0" rIns="0" bIns="0" rtlCol="0" anchor="t"/>
          <a:lstStyle/>
          <a:p>
            <a:pPr indent="0" marL="0">
              <a:buNone/>
            </a:pPr>
            <a:r>
              <a:rPr lang="en-US" sz="1800" dirty="0">
                <a:solidFill>
                  <a:schemeClr val="tx1"/>
                </a:solidFill>
              </a:rPr>
              <a:t>orders snapshots after expiry (customer 58 → 1)</a:t>
            </a:r>
            <a:endParaRPr lang="en-US" sz="1800" dirty="0"/>
          </a:p>
        </p:txBody>
      </p:sp>
      <p:sp>
        <p:nvSpPr>
          <p:cNvPr id="10" name="stat-customer"/>
          <p:cNvSpPr txBox="1"/>
          <p:nvPr/>
        </p:nvSpPr>
        <p:spPr>
          <a:xfrm>
            <a:off x="8595360" y="4206240"/>
            <a:ext cx="3047695" cy="548640"/>
          </a:xfrm>
          <a:prstGeom prst="rect">
            <a:avLst/>
          </a:prstGeom>
          <a:noFill/>
          <a:ln/>
        </p:spPr>
        <p:txBody>
          <a:bodyPr wrap="square" lIns="0" tIns="0" rIns="0" bIns="0" rtlCol="0" anchor="t"/>
          <a:lstStyle/>
          <a:p>
            <a:pPr indent="0" marL="0">
              <a:buNone/>
            </a:pPr>
            <a:r>
              <a:rPr lang="en-US" sz="3600" b="1" dirty="0">
                <a:solidFill>
                  <a:schemeClr val="accent1"/>
                </a:solidFill>
              </a:rPr>
              <a:t>−22.4%</a:t>
            </a:r>
            <a:endParaRPr lang="en-US" sz="3600" dirty="0"/>
          </a:p>
        </p:txBody>
      </p:sp>
      <p:sp>
        <p:nvSpPr>
          <p:cNvPr id="11" name="Text 7"/>
          <p:cNvSpPr txBox="1"/>
          <p:nvPr/>
        </p:nvSpPr>
        <p:spPr>
          <a:xfrm>
            <a:off x="8595360" y="4773168"/>
            <a:ext cx="3047695" cy="822960"/>
          </a:xfrm>
          <a:prstGeom prst="rect">
            <a:avLst/>
          </a:prstGeom>
          <a:noFill/>
          <a:ln/>
        </p:spPr>
        <p:txBody>
          <a:bodyPr wrap="square" lIns="0" tIns="0" rIns="0" bIns="0" rtlCol="0" anchor="t"/>
          <a:lstStyle/>
          <a:p>
            <a:pPr indent="0" marL="0">
              <a:buNone/>
            </a:pPr>
            <a:r>
              <a:rPr lang="en-US" sz="1800" dirty="0">
                <a:solidFill>
                  <a:schemeClr val="tx1"/>
                </a:solidFill>
              </a:rPr>
              <a:t>customer storage: 58 small files → 1</a:t>
            </a:r>
            <a:endParaRPr lang="en-US" sz="1800" dirty="0"/>
          </a:p>
        </p:txBody>
      </p:sp>
      <p:sp>
        <p:nvSpPr>
          <p:cNvPr id="12" name="Text 8"/>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results/benchmark-20261007-181123/summary.md</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Results: ingestion, freshness, correctness</a:t>
            </a:r>
            <a:endParaRPr lang="en-US" sz="3400" dirty="0"/>
          </a:p>
        </p:txBody>
      </p:sp>
      <p:sp>
        <p:nvSpPr>
          <p:cNvPr id="3" name="kpi-1"/>
          <p:cNvSpPr/>
          <p:nvPr/>
        </p:nvSpPr>
        <p:spPr>
          <a:xfrm>
            <a:off x="548640" y="1280160"/>
            <a:ext cx="2567864" cy="1737360"/>
          </a:xfrm>
          <a:prstGeom prst="roundRect">
            <a:avLst>
              <a:gd name="adj" fmla="val 6316"/>
            </a:avLst>
          </a:prstGeom>
          <a:solidFill>
            <a:schemeClr val="bg2"/>
          </a:solidFill>
          <a:ln/>
        </p:spPr>
      </p:sp>
      <p:sp>
        <p:nvSpPr>
          <p:cNvPr id="4" name="Text 2"/>
          <p:cNvSpPr txBox="1"/>
          <p:nvPr/>
        </p:nvSpPr>
        <p:spPr>
          <a:xfrm>
            <a:off x="777240" y="1417320"/>
            <a:ext cx="2110664" cy="548640"/>
          </a:xfrm>
          <a:prstGeom prst="rect">
            <a:avLst/>
          </a:prstGeom>
          <a:noFill/>
          <a:ln/>
        </p:spPr>
        <p:txBody>
          <a:bodyPr wrap="square" lIns="0" tIns="0" rIns="0" bIns="0" rtlCol="0" anchor="t"/>
          <a:lstStyle/>
          <a:p>
            <a:pPr indent="0" marL="0">
              <a:buNone/>
            </a:pPr>
            <a:r>
              <a:rPr lang="en-US" sz="3400" b="1" dirty="0">
                <a:solidFill>
                  <a:schemeClr val="accent1"/>
                </a:solidFill>
              </a:rPr>
              <a:t>4,843.5</a:t>
            </a:r>
            <a:endParaRPr lang="en-US" sz="3400" dirty="0"/>
          </a:p>
        </p:txBody>
      </p:sp>
      <p:sp>
        <p:nvSpPr>
          <p:cNvPr id="5" name="Text 3"/>
          <p:cNvSpPr txBox="1"/>
          <p:nvPr/>
        </p:nvSpPr>
        <p:spPr>
          <a:xfrm>
            <a:off x="777240" y="2011680"/>
            <a:ext cx="2110664" cy="960120"/>
          </a:xfrm>
          <a:prstGeom prst="rect">
            <a:avLst/>
          </a:prstGeom>
          <a:noFill/>
          <a:ln/>
        </p:spPr>
        <p:txBody>
          <a:bodyPr wrap="square" lIns="0" tIns="0" rIns="0" bIns="0" rtlCol="0" anchor="t"/>
          <a:lstStyle/>
          <a:p>
            <a:pPr indent="0" marL="0">
              <a:buNone/>
            </a:pPr>
            <a:r>
              <a:rPr lang="en-US" sz="1800" dirty="0">
                <a:solidFill>
                  <a:schemeClr val="tx1"/>
                </a:solidFill>
              </a:rPr>
              <a:t>rows/s initial load (1,650,030 rows in 340.7 s)</a:t>
            </a:r>
            <a:endParaRPr lang="en-US" sz="1800" dirty="0"/>
          </a:p>
        </p:txBody>
      </p:sp>
      <p:sp>
        <p:nvSpPr>
          <p:cNvPr id="6" name="kpi-2"/>
          <p:cNvSpPr/>
          <p:nvPr/>
        </p:nvSpPr>
        <p:spPr>
          <a:xfrm>
            <a:off x="3390824" y="1280160"/>
            <a:ext cx="2567864" cy="1737360"/>
          </a:xfrm>
          <a:prstGeom prst="roundRect">
            <a:avLst>
              <a:gd name="adj" fmla="val 6316"/>
            </a:avLst>
          </a:prstGeom>
          <a:solidFill>
            <a:schemeClr val="bg2"/>
          </a:solidFill>
          <a:ln/>
        </p:spPr>
      </p:sp>
      <p:sp>
        <p:nvSpPr>
          <p:cNvPr id="7" name="Text 5"/>
          <p:cNvSpPr txBox="1"/>
          <p:nvPr/>
        </p:nvSpPr>
        <p:spPr>
          <a:xfrm>
            <a:off x="3619424" y="1417320"/>
            <a:ext cx="2110664" cy="548640"/>
          </a:xfrm>
          <a:prstGeom prst="rect">
            <a:avLst/>
          </a:prstGeom>
          <a:noFill/>
          <a:ln/>
        </p:spPr>
        <p:txBody>
          <a:bodyPr wrap="square" lIns="0" tIns="0" rIns="0" bIns="0" rtlCol="0" anchor="t"/>
          <a:lstStyle/>
          <a:p>
            <a:pPr indent="0" marL="0">
              <a:buNone/>
            </a:pPr>
            <a:r>
              <a:rPr lang="en-US" sz="3400" b="1" dirty="0">
                <a:solidFill>
                  <a:schemeClr val="accent1"/>
                </a:solidFill>
              </a:rPr>
              <a:t>3,574.9</a:t>
            </a:r>
            <a:endParaRPr lang="en-US" sz="3400" dirty="0"/>
          </a:p>
        </p:txBody>
      </p:sp>
      <p:sp>
        <p:nvSpPr>
          <p:cNvPr id="8" name="Text 6"/>
          <p:cNvSpPr txBox="1"/>
          <p:nvPr/>
        </p:nvSpPr>
        <p:spPr>
          <a:xfrm>
            <a:off x="3619424" y="2011680"/>
            <a:ext cx="2110664" cy="960120"/>
          </a:xfrm>
          <a:prstGeom prst="rect">
            <a:avLst/>
          </a:prstGeom>
          <a:noFill/>
          <a:ln/>
        </p:spPr>
        <p:txBody>
          <a:bodyPr wrap="square" lIns="0" tIns="0" rIns="0" bIns="0" rtlCol="0" anchor="t"/>
          <a:lstStyle/>
          <a:p>
            <a:pPr indent="0" marL="0">
              <a:buNone/>
            </a:pPr>
            <a:r>
              <a:rPr lang="en-US" sz="1800" dirty="0">
                <a:solidFill>
                  <a:schemeClr val="tx1"/>
                </a:solidFill>
              </a:rPr>
              <a:t>records/s streaming MERGE (peak batch 7,751.9)</a:t>
            </a:r>
            <a:endParaRPr lang="en-US" sz="1800" dirty="0"/>
          </a:p>
        </p:txBody>
      </p:sp>
      <p:sp>
        <p:nvSpPr>
          <p:cNvPr id="9" name="kpi-3"/>
          <p:cNvSpPr/>
          <p:nvPr/>
        </p:nvSpPr>
        <p:spPr>
          <a:xfrm>
            <a:off x="6233008" y="1280160"/>
            <a:ext cx="2567864" cy="1737360"/>
          </a:xfrm>
          <a:prstGeom prst="roundRect">
            <a:avLst>
              <a:gd name="adj" fmla="val 6316"/>
            </a:avLst>
          </a:prstGeom>
          <a:solidFill>
            <a:schemeClr val="bg2"/>
          </a:solidFill>
          <a:ln/>
        </p:spPr>
      </p:sp>
      <p:sp>
        <p:nvSpPr>
          <p:cNvPr id="10" name="Text 8"/>
          <p:cNvSpPr txBox="1"/>
          <p:nvPr/>
        </p:nvSpPr>
        <p:spPr>
          <a:xfrm>
            <a:off x="6461608" y="1417320"/>
            <a:ext cx="2110664" cy="548640"/>
          </a:xfrm>
          <a:prstGeom prst="rect">
            <a:avLst/>
          </a:prstGeom>
          <a:noFill/>
          <a:ln/>
        </p:spPr>
        <p:txBody>
          <a:bodyPr wrap="square" lIns="0" tIns="0" rIns="0" bIns="0" rtlCol="0" anchor="t"/>
          <a:lstStyle/>
          <a:p>
            <a:pPr indent="0" marL="0">
              <a:buNone/>
            </a:pPr>
            <a:r>
              <a:rPr lang="en-US" sz="3400" b="1" dirty="0">
                <a:solidFill>
                  <a:schemeClr val="accent1"/>
                </a:solidFill>
              </a:rPr>
              <a:t>7.3 s</a:t>
            </a:r>
            <a:endParaRPr lang="en-US" sz="3400" dirty="0"/>
          </a:p>
        </p:txBody>
      </p:sp>
      <p:sp>
        <p:nvSpPr>
          <p:cNvPr id="11" name="Text 9"/>
          <p:cNvSpPr txBox="1"/>
          <p:nvPr/>
        </p:nvSpPr>
        <p:spPr>
          <a:xfrm>
            <a:off x="6461608" y="2011680"/>
            <a:ext cx="2110664" cy="960120"/>
          </a:xfrm>
          <a:prstGeom prst="rect">
            <a:avLst/>
          </a:prstGeom>
          <a:noFill/>
          <a:ln/>
        </p:spPr>
        <p:txBody>
          <a:bodyPr wrap="square" lIns="0" tIns="0" rIns="0" bIns="0" rtlCol="0" anchor="t"/>
          <a:lstStyle/>
          <a:p>
            <a:pPr indent="0" marL="0">
              <a:buNone/>
            </a:pPr>
            <a:r>
              <a:rPr lang="en-US" sz="1800" dirty="0">
                <a:solidFill>
                  <a:schemeClr val="tx1"/>
                </a:solidFill>
              </a:rPr>
              <a:t>freshness p50 (p95 11.73 s, 40/40 probes)</a:t>
            </a:r>
            <a:endParaRPr lang="en-US" sz="1800" dirty="0"/>
          </a:p>
        </p:txBody>
      </p:sp>
      <p:sp>
        <p:nvSpPr>
          <p:cNvPr id="12" name="kpi-4"/>
          <p:cNvSpPr/>
          <p:nvPr/>
        </p:nvSpPr>
        <p:spPr>
          <a:xfrm>
            <a:off x="9075191" y="1280160"/>
            <a:ext cx="2567864" cy="1737360"/>
          </a:xfrm>
          <a:prstGeom prst="roundRect">
            <a:avLst>
              <a:gd name="adj" fmla="val 6316"/>
            </a:avLst>
          </a:prstGeom>
          <a:solidFill>
            <a:schemeClr val="bg2"/>
          </a:solidFill>
          <a:ln/>
        </p:spPr>
      </p:sp>
      <p:sp>
        <p:nvSpPr>
          <p:cNvPr id="13" name="Text 11"/>
          <p:cNvSpPr txBox="1"/>
          <p:nvPr/>
        </p:nvSpPr>
        <p:spPr>
          <a:xfrm>
            <a:off x="9303791" y="1417320"/>
            <a:ext cx="2110664" cy="548640"/>
          </a:xfrm>
          <a:prstGeom prst="rect">
            <a:avLst/>
          </a:prstGeom>
          <a:noFill/>
          <a:ln/>
        </p:spPr>
        <p:txBody>
          <a:bodyPr wrap="square" lIns="0" tIns="0" rIns="0" bIns="0" rtlCol="0" anchor="t"/>
          <a:lstStyle/>
          <a:p>
            <a:pPr indent="0" marL="0">
              <a:buNone/>
            </a:pPr>
            <a:r>
              <a:rPr lang="en-US" sz="3400" b="1" dirty="0">
                <a:solidFill>
                  <a:schemeClr val="accent1"/>
                </a:solidFill>
              </a:rPr>
              <a:t>4 / 4</a:t>
            </a:r>
            <a:endParaRPr lang="en-US" sz="3400" dirty="0"/>
          </a:p>
        </p:txBody>
      </p:sp>
      <p:sp>
        <p:nvSpPr>
          <p:cNvPr id="14" name="Text 12"/>
          <p:cNvSpPr txBox="1"/>
          <p:nvPr/>
        </p:nvSpPr>
        <p:spPr>
          <a:xfrm>
            <a:off x="9303791" y="2011680"/>
            <a:ext cx="2110664" cy="960120"/>
          </a:xfrm>
          <a:prstGeom prst="rect">
            <a:avLst/>
          </a:prstGeom>
          <a:noFill/>
          <a:ln/>
        </p:spPr>
        <p:txBody>
          <a:bodyPr wrap="square" lIns="0" tIns="0" rIns="0" bIns="0" rtlCol="0" anchor="t"/>
          <a:lstStyle/>
          <a:p>
            <a:pPr indent="0" marL="0">
              <a:buNone/>
            </a:pPr>
            <a:r>
              <a:rPr lang="en-US" sz="1800" dirty="0">
                <a:solidFill>
                  <a:schemeClr val="tx1"/>
                </a:solidFill>
              </a:rPr>
              <a:t>tables: row counts and checksums match</a:t>
            </a:r>
            <a:endParaRPr lang="en-US" sz="1800" dirty="0"/>
          </a:p>
        </p:txBody>
      </p:sp>
      <p:pic>
        <p:nvPicPr>
          <p:cNvPr id="15" name="chart-freshness" descr="Histogram of CDC end-to-end freshness">    </p:cNvPr>
          <p:cNvPicPr>
            <a:picLocks noChangeAspect="1"/>
          </p:cNvPicPr>
          <p:nvPr/>
        </p:nvPicPr>
        <p:blipFill>
          <a:blip r:embed="rId1"/>
          <a:stretch>
            <a:fillRect/>
          </a:stretch>
        </p:blipFill>
        <p:spPr>
          <a:xfrm>
            <a:off x="548640" y="3246120"/>
            <a:ext cx="4572000" cy="2481943"/>
          </a:xfrm>
          <a:prstGeom prst="rect">
            <a:avLst/>
          </a:prstGeom>
        </p:spPr>
      </p:pic>
      <p:pic>
        <p:nvPicPr>
          <p:cNvPr id="16" name="chart-ingestion" descr="Records and processing time per micro-batch">    </p:cNvPr>
          <p:cNvPicPr>
            <a:picLocks noChangeAspect="1"/>
          </p:cNvPicPr>
          <p:nvPr/>
        </p:nvPicPr>
        <p:blipFill>
          <a:blip r:embed="rId2"/>
          <a:stretch>
            <a:fillRect/>
          </a:stretch>
        </p:blipFill>
        <p:spPr>
          <a:xfrm>
            <a:off x="5394960" y="3246120"/>
            <a:ext cx="6248095" cy="2374276"/>
          </a:xfrm>
          <a:prstGeom prst="rect">
            <a:avLst/>
          </a:prstGeom>
        </p:spPr>
      </p:pic>
      <p:sp>
        <p:nvSpPr>
          <p:cNvPr id="17" name="Text 13"/>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results/benchmark-20261007-181123/summary.md, results/ingest_load.json, results/freshness.json</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Technical challenges</a:t>
            </a:r>
            <a:endParaRPr lang="en-US" sz="3400" dirty="0"/>
          </a:p>
        </p:txBody>
      </p:sp>
      <p:graphicFrame>
        <p:nvGraphicFramePr>
          <p:cNvPr id="14" name="challenges-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6400800"/>
                <a:gridCol w="4693615"/>
              </a:tblGrid>
              <a:tr h="512064">
                <a:tc>
                  <a:txBody>
                    <a:bodyPr/>
                    <a:lstStyle/>
                    <a:p>
                      <a:pPr indent="0" marL="0">
                        <a:buNone/>
                      </a:pPr>
                      <a:r>
                        <a:rPr lang="en-US" sz="1800" b="1" dirty="0">
                          <a:solidFill>
                            <a:schemeClr val="bg1"/>
                          </a:solidFill>
                        </a:rPr>
                        <a:t>Challenge</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800" b="1" dirty="0">
                          <a:solidFill>
                            <a:schemeClr val="bg1"/>
                          </a:solidFill>
                        </a:rPr>
                        <a:t>Fix</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accent1"/>
                    </a:solidFill>
                  </a:tcPr>
                </a:tc>
              </a:tr>
              <a:tr h="512064">
                <a:tc>
                  <a:txBody>
                    <a:bodyPr/>
                    <a:lstStyle/>
                    <a:p>
                      <a:pPr indent="0" marL="0">
                        <a:buNone/>
                      </a:pPr>
                      <a:r>
                        <a:rPr lang="en-US" sz="1800" dirty="0">
                          <a:solidFill>
                            <a:schemeClr val="tx1"/>
                          </a:solidFill>
                        </a:rPr>
                        <a:t>SQLite REST catalog: SQLITE_BUSY under concurrent commits</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Catalog moved to PostgreSQL (JDBC)</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800" dirty="0">
                          <a:solidFill>
                            <a:schemeClr val="tx1"/>
                          </a:solidFill>
                        </a:rPr>
                        <a:t>Spark MERGE fails with identifier fields (Iceberg 1.9)</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Primary key kept as a table property</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800" dirty="0">
                          <a:solidFill>
                            <a:schemeClr val="tx1"/>
                          </a:solidFill>
                        </a:rPr>
                        <a:t>remove_orphan_files needs a Hadoop S3 filesystem</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S3 listing via file_list_view (boto3)</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800" dirty="0">
                          <a:solidFill>
                            <a:schemeClr val="tx1"/>
                          </a:solidFill>
                        </a:rPr>
                        <a:t>Trino's 432 MB per-node memory too small for joins</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Raised memory limits + spill-to-disk</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800" dirty="0">
                          <a:solidFill>
                            <a:schemeClr val="tx1"/>
                          </a:solidFill>
                        </a:rPr>
                        <a:t>Sorted rewrite of 1.5M rows: heap OOM in 1 GB driver</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Resized job and container memory</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800" dirty="0">
                          <a:solidFill>
                            <a:schemeClr val="tx1"/>
                          </a:solidFill>
                        </a:rPr>
                        <a:t>Debezium JSON carries its schema (~3 KB/message)</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zstd in Kafka; schema read by prefix</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800" dirty="0">
                          <a:solidFill>
                            <a:schemeClr val="tx1"/>
                          </a:solidFill>
                        </a:rPr>
                        <a:t>MinIO official Docker images withdrawn (2025)</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800" dirty="0">
                          <a:solidFill>
                            <a:schemeClr val="tx1"/>
                          </a:solidFill>
                        </a:rPr>
                        <a:t>Maintained community build</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800" dirty="0">
                          <a:solidFill>
                            <a:schemeClr val="tx1"/>
                          </a:solidFill>
                        </a:rPr>
                        <a:t>Whole stack must fit in Docker's 8 GB</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800" dirty="0">
                          <a:solidFill>
                            <a:schemeClr val="tx1"/>
                          </a:solidFill>
                        </a:rPr>
                        <a:t>Per-service limits; local-mode Spark</a:t>
                      </a:r>
                      <a:endParaRPr lang="en-US" sz="18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Text 1"/>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dirty="0">
                <a:solidFill>
                  <a:schemeClr val="tx2"/>
                </a:solidFill>
              </a:rPr>
              <a:t>Source: docs/slides/SLIDES_BRIEF.md (technical challenges), docs/architecture.md</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400" b="1" dirty="0">
                <a:solidFill>
                  <a:schemeClr val="tx1"/>
                </a:solidFill>
              </a:rPr>
              <a:t>Conclusion and future work</a:t>
            </a:r>
            <a:endParaRPr lang="en-US" sz="3400" dirty="0"/>
          </a:p>
        </p:txBody>
      </p:sp>
      <p:sp>
        <p:nvSpPr>
          <p:cNvPr id="3" name="Text 1"/>
          <p:cNvSpPr txBox="1"/>
          <p:nvPr/>
        </p:nvSpPr>
        <p:spPr>
          <a:xfrm>
            <a:off x="548640" y="1325880"/>
            <a:ext cx="5120640" cy="411480"/>
          </a:xfrm>
          <a:prstGeom prst="rect">
            <a:avLst/>
          </a:prstGeom>
          <a:noFill/>
          <a:ln/>
        </p:spPr>
        <p:txBody>
          <a:bodyPr wrap="square" lIns="0" tIns="0" rIns="0" bIns="0" rtlCol="0" anchor="t"/>
          <a:lstStyle/>
          <a:p>
            <a:pPr indent="0" marL="0">
              <a:buNone/>
            </a:pPr>
            <a:r>
              <a:rPr lang="en-US" sz="2200" b="1" dirty="0">
                <a:solidFill>
                  <a:schemeClr val="tx1"/>
                </a:solidFill>
              </a:rPr>
              <a:t>What we showed</a:t>
            </a:r>
            <a:endParaRPr lang="en-US" sz="2200" dirty="0"/>
          </a:p>
        </p:txBody>
      </p:sp>
      <p:sp>
        <p:nvSpPr>
          <p:cNvPr id="4" name="Text 2"/>
          <p:cNvSpPr txBox="1"/>
          <p:nvPr/>
        </p:nvSpPr>
        <p:spPr>
          <a:xfrm>
            <a:off x="548640" y="1874520"/>
            <a:ext cx="5120640" cy="38404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A complete CDC lakehouse running in Docker on one laptop</a:t>
            </a:r>
            <a:endParaRPr lang="en-US" sz="1800" dirty="0"/>
          </a:p>
          <a:p>
            <a:pPr marL="228600" indent="-228600">
              <a:spcAft>
                <a:spcPts val="1000"/>
              </a:spcAft>
              <a:buSzPct val="100000"/>
              <a:buChar char="•"/>
            </a:pPr>
            <a:r>
              <a:rPr lang="en-US" sz="1800" dirty="0">
                <a:solidFill>
                  <a:schemeClr val="tx1"/>
                </a:solidFill>
              </a:rPr>
              <a:t>Fresh: 7.3 s median from commit to query</a:t>
            </a:r>
            <a:endParaRPr lang="en-US" sz="1800" dirty="0"/>
          </a:p>
          <a:p>
            <a:pPr marL="228600" indent="-228600">
              <a:spcAft>
                <a:spcPts val="1000"/>
              </a:spcAft>
              <a:buSzPct val="100000"/>
              <a:buChar char="•"/>
            </a:pPr>
            <a:r>
              <a:rPr lang="en-US" sz="1800" dirty="0">
                <a:solidFill>
                  <a:schemeClr val="tx1"/>
                </a:solidFill>
              </a:rPr>
              <a:t>Correct: checksums match on all 4 tables</a:t>
            </a:r>
            <a:endParaRPr lang="en-US" sz="1800" dirty="0"/>
          </a:p>
          <a:p>
            <a:pPr marL="228600" indent="-228600">
              <a:spcAft>
                <a:spcPts val="1000"/>
              </a:spcAft>
              <a:buSzPct val="100000"/>
              <a:buChar char="•"/>
            </a:pPr>
            <a:r>
              <a:rPr lang="en-US" sz="1800" dirty="0">
                <a:solidFill>
                  <a:schemeClr val="tx1"/>
                </a:solidFill>
              </a:rPr>
              <a:t>Optimised: 3.25× faster query suite, 105 delete files → 0</a:t>
            </a:r>
            <a:endParaRPr lang="en-US" sz="1800" dirty="0"/>
          </a:p>
        </p:txBody>
      </p:sp>
      <p:sp>
        <p:nvSpPr>
          <p:cNvPr id="5" name="Text 3"/>
          <p:cNvSpPr txBox="1"/>
          <p:nvPr/>
        </p:nvSpPr>
        <p:spPr>
          <a:xfrm>
            <a:off x="6172200" y="1325880"/>
            <a:ext cx="5470855" cy="411480"/>
          </a:xfrm>
          <a:prstGeom prst="rect">
            <a:avLst/>
          </a:prstGeom>
          <a:noFill/>
          <a:ln/>
        </p:spPr>
        <p:txBody>
          <a:bodyPr wrap="square" lIns="0" tIns="0" rIns="0" bIns="0" rtlCol="0" anchor="t"/>
          <a:lstStyle/>
          <a:p>
            <a:pPr indent="0" marL="0">
              <a:buNone/>
            </a:pPr>
            <a:r>
              <a:rPr lang="en-US" sz="2200" b="1" dirty="0">
                <a:solidFill>
                  <a:schemeClr val="tx1"/>
                </a:solidFill>
              </a:rPr>
              <a:t>Future work</a:t>
            </a:r>
            <a:endParaRPr lang="en-US" sz="2200" dirty="0"/>
          </a:p>
        </p:txBody>
      </p:sp>
      <p:sp>
        <p:nvSpPr>
          <p:cNvPr id="6" name="future-1"/>
          <p:cNvSpPr/>
          <p:nvPr/>
        </p:nvSpPr>
        <p:spPr>
          <a:xfrm>
            <a:off x="6172200" y="1874520"/>
            <a:ext cx="5470855" cy="694944"/>
          </a:xfrm>
          <a:prstGeom prst="roundRect">
            <a:avLst>
              <a:gd name="adj" fmla="val 15789"/>
            </a:avLst>
          </a:prstGeom>
          <a:solidFill>
            <a:schemeClr val="bg2"/>
          </a:solidFill>
          <a:ln/>
        </p:spPr>
      </p:sp>
      <p:sp>
        <p:nvSpPr>
          <p:cNvPr id="7" name="future-num-1"/>
          <p:cNvSpPr/>
          <p:nvPr/>
        </p:nvSpPr>
        <p:spPr>
          <a:xfrm>
            <a:off x="6309360" y="1993392"/>
            <a:ext cx="457200" cy="457200"/>
          </a:xfrm>
          <a:prstGeom prst="ellipse">
            <a:avLst/>
          </a:prstGeom>
          <a:solidFill>
            <a:schemeClr val="accent1"/>
          </a:solidFill>
          <a:ln/>
        </p:spPr>
      </p:sp>
      <p:sp>
        <p:nvSpPr>
          <p:cNvPr id="8" name="Text 6"/>
          <p:cNvSpPr txBox="1"/>
          <p:nvPr/>
        </p:nvSpPr>
        <p:spPr>
          <a:xfrm>
            <a:off x="6309360" y="199339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7"/>
          <p:cNvSpPr txBox="1"/>
          <p:nvPr/>
        </p:nvSpPr>
        <p:spPr>
          <a:xfrm>
            <a:off x="6949440" y="1874520"/>
            <a:ext cx="4556455" cy="694944"/>
          </a:xfrm>
          <a:prstGeom prst="rect">
            <a:avLst/>
          </a:prstGeom>
          <a:noFill/>
          <a:ln/>
        </p:spPr>
        <p:txBody>
          <a:bodyPr wrap="square" lIns="0" tIns="0" rIns="0" bIns="0" rtlCol="0" anchor="ctr"/>
          <a:lstStyle/>
          <a:p>
            <a:pPr indent="0" marL="0">
              <a:buNone/>
            </a:pPr>
            <a:r>
              <a:rPr lang="en-US" sz="1800" b="1" dirty="0">
                <a:solidFill>
                  <a:schemeClr val="tx1"/>
                </a:solidFill>
              </a:rPr>
              <a:t>Hudi vs Iceberg: </a:t>
            </a:r>
            <a:pPr indent="0" marL="0">
              <a:buNone/>
            </a:pPr>
            <a:r>
              <a:rPr lang="en-US" sz="1800" dirty="0">
                <a:solidFill>
                  <a:schemeClr val="tx1"/>
                </a:solidFill>
              </a:rPr>
              <a:t>same workload, compare table formats</a:t>
            </a:r>
            <a:endParaRPr lang="en-US" sz="1800" dirty="0"/>
          </a:p>
        </p:txBody>
      </p:sp>
      <p:sp>
        <p:nvSpPr>
          <p:cNvPr id="10" name="future-2"/>
          <p:cNvSpPr/>
          <p:nvPr/>
        </p:nvSpPr>
        <p:spPr>
          <a:xfrm>
            <a:off x="6172200" y="2660904"/>
            <a:ext cx="5470855" cy="694944"/>
          </a:xfrm>
          <a:prstGeom prst="roundRect">
            <a:avLst>
              <a:gd name="adj" fmla="val 15789"/>
            </a:avLst>
          </a:prstGeom>
          <a:solidFill>
            <a:schemeClr val="bg2"/>
          </a:solidFill>
          <a:ln/>
        </p:spPr>
      </p:sp>
      <p:sp>
        <p:nvSpPr>
          <p:cNvPr id="11" name="future-num-2"/>
          <p:cNvSpPr/>
          <p:nvPr/>
        </p:nvSpPr>
        <p:spPr>
          <a:xfrm>
            <a:off x="6309360" y="2779776"/>
            <a:ext cx="457200" cy="457200"/>
          </a:xfrm>
          <a:prstGeom prst="ellipse">
            <a:avLst/>
          </a:prstGeom>
          <a:solidFill>
            <a:schemeClr val="accent1"/>
          </a:solidFill>
          <a:ln/>
        </p:spPr>
      </p:sp>
      <p:sp>
        <p:nvSpPr>
          <p:cNvPr id="12" name="Text 10"/>
          <p:cNvSpPr txBox="1"/>
          <p:nvPr/>
        </p:nvSpPr>
        <p:spPr>
          <a:xfrm>
            <a:off x="6309360" y="277977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6949440" y="2660904"/>
            <a:ext cx="4556455" cy="694944"/>
          </a:xfrm>
          <a:prstGeom prst="rect">
            <a:avLst/>
          </a:prstGeom>
          <a:noFill/>
          <a:ln/>
        </p:spPr>
        <p:txBody>
          <a:bodyPr wrap="square" lIns="0" tIns="0" rIns="0" bIns="0" rtlCol="0" anchor="ctr"/>
          <a:lstStyle/>
          <a:p>
            <a:pPr indent="0" marL="0">
              <a:buNone/>
            </a:pPr>
            <a:r>
              <a:rPr lang="en-US" sz="1800" b="1" dirty="0">
                <a:solidFill>
                  <a:schemeClr val="tx1"/>
                </a:solidFill>
              </a:rPr>
              <a:t>Apache Atlas: </a:t>
            </a:r>
            <a:pPr indent="0" marL="0">
              <a:buNone/>
            </a:pPr>
            <a:r>
              <a:rPr lang="en-US" sz="1800" dirty="0">
                <a:solidFill>
                  <a:schemeClr val="tx1"/>
                </a:solidFill>
              </a:rPr>
              <a:t>data lineage across the pipeline</a:t>
            </a:r>
            <a:endParaRPr lang="en-US" sz="1800" dirty="0"/>
          </a:p>
        </p:txBody>
      </p:sp>
      <p:sp>
        <p:nvSpPr>
          <p:cNvPr id="14" name="future-3"/>
          <p:cNvSpPr/>
          <p:nvPr/>
        </p:nvSpPr>
        <p:spPr>
          <a:xfrm>
            <a:off x="6172200" y="3447288"/>
            <a:ext cx="5470855" cy="694944"/>
          </a:xfrm>
          <a:prstGeom prst="roundRect">
            <a:avLst>
              <a:gd name="adj" fmla="val 15789"/>
            </a:avLst>
          </a:prstGeom>
          <a:solidFill>
            <a:schemeClr val="bg2"/>
          </a:solidFill>
          <a:ln/>
        </p:spPr>
      </p:sp>
      <p:sp>
        <p:nvSpPr>
          <p:cNvPr id="15" name="future-num-3"/>
          <p:cNvSpPr/>
          <p:nvPr/>
        </p:nvSpPr>
        <p:spPr>
          <a:xfrm>
            <a:off x="6309360" y="3566160"/>
            <a:ext cx="457200" cy="457200"/>
          </a:xfrm>
          <a:prstGeom prst="ellipse">
            <a:avLst/>
          </a:prstGeom>
          <a:solidFill>
            <a:schemeClr val="accent1"/>
          </a:solidFill>
          <a:ln/>
        </p:spPr>
      </p:sp>
      <p:sp>
        <p:nvSpPr>
          <p:cNvPr id="16" name="Text 14"/>
          <p:cNvSpPr txBox="1"/>
          <p:nvPr/>
        </p:nvSpPr>
        <p:spPr>
          <a:xfrm>
            <a:off x="6309360" y="3566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6949440" y="3447288"/>
            <a:ext cx="4556455" cy="694944"/>
          </a:xfrm>
          <a:prstGeom prst="rect">
            <a:avLst/>
          </a:prstGeom>
          <a:noFill/>
          <a:ln/>
        </p:spPr>
        <p:txBody>
          <a:bodyPr wrap="square" lIns="0" tIns="0" rIns="0" bIns="0" rtlCol="0" anchor="ctr"/>
          <a:lstStyle/>
          <a:p>
            <a:pPr indent="0" marL="0">
              <a:buNone/>
            </a:pPr>
            <a:r>
              <a:rPr lang="en-US" sz="1800" b="1" dirty="0">
                <a:solidFill>
                  <a:schemeClr val="tx1"/>
                </a:solidFill>
              </a:rPr>
              <a:t>Kubernetes / AKS: </a:t>
            </a:r>
            <a:pPr indent="0" marL="0">
              <a:buNone/>
            </a:pPr>
            <a:r>
              <a:rPr lang="en-US" sz="1800" dirty="0">
                <a:solidFill>
                  <a:schemeClr val="tx1"/>
                </a:solidFill>
              </a:rPr>
              <a:t>cloud deployment of the stack</a:t>
            </a:r>
            <a:endParaRPr lang="en-US" sz="1800" dirty="0"/>
          </a:p>
        </p:txBody>
      </p:sp>
      <p:sp>
        <p:nvSpPr>
          <p:cNvPr id="18" name="future-4"/>
          <p:cNvSpPr/>
          <p:nvPr/>
        </p:nvSpPr>
        <p:spPr>
          <a:xfrm>
            <a:off x="6172200" y="4233672"/>
            <a:ext cx="5470855" cy="694944"/>
          </a:xfrm>
          <a:prstGeom prst="roundRect">
            <a:avLst>
              <a:gd name="adj" fmla="val 15789"/>
            </a:avLst>
          </a:prstGeom>
          <a:solidFill>
            <a:schemeClr val="bg2"/>
          </a:solidFill>
          <a:ln/>
        </p:spPr>
      </p:sp>
      <p:sp>
        <p:nvSpPr>
          <p:cNvPr id="19" name="future-num-4"/>
          <p:cNvSpPr/>
          <p:nvPr/>
        </p:nvSpPr>
        <p:spPr>
          <a:xfrm>
            <a:off x="6309360" y="4352544"/>
            <a:ext cx="457200" cy="457200"/>
          </a:xfrm>
          <a:prstGeom prst="ellipse">
            <a:avLst/>
          </a:prstGeom>
          <a:solidFill>
            <a:schemeClr val="accent1"/>
          </a:solidFill>
          <a:ln/>
        </p:spPr>
      </p:sp>
      <p:sp>
        <p:nvSpPr>
          <p:cNvPr id="20" name="Text 18"/>
          <p:cNvSpPr txBox="1"/>
          <p:nvPr/>
        </p:nvSpPr>
        <p:spPr>
          <a:xfrm>
            <a:off x="6309360" y="435254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6949440" y="4233672"/>
            <a:ext cx="4556455" cy="694944"/>
          </a:xfrm>
          <a:prstGeom prst="rect">
            <a:avLst/>
          </a:prstGeom>
          <a:noFill/>
          <a:ln/>
        </p:spPr>
        <p:txBody>
          <a:bodyPr wrap="square" lIns="0" tIns="0" rIns="0" bIns="0" rtlCol="0" anchor="ctr"/>
          <a:lstStyle/>
          <a:p>
            <a:pPr indent="0" marL="0">
              <a:buNone/>
            </a:pPr>
            <a:r>
              <a:rPr lang="en-US" sz="1800" b="1" dirty="0">
                <a:solidFill>
                  <a:schemeClr val="tx1"/>
                </a:solidFill>
              </a:rPr>
              <a:t>Avro + Schema Registry: </a:t>
            </a:r>
            <a:pPr indent="0" marL="0">
              <a:buNone/>
            </a:pPr>
            <a:r>
              <a:rPr lang="en-US" sz="1800" dirty="0">
                <a:solidFill>
                  <a:schemeClr val="tx1"/>
                </a:solidFill>
              </a:rPr>
              <a:t>smaller events than JSON</a:t>
            </a:r>
            <a:endParaRPr lang="en-US" sz="1800" dirty="0"/>
          </a:p>
        </p:txBody>
      </p:sp>
      <p:sp>
        <p:nvSpPr>
          <p:cNvPr id="22" name="future-5"/>
          <p:cNvSpPr/>
          <p:nvPr/>
        </p:nvSpPr>
        <p:spPr>
          <a:xfrm>
            <a:off x="6172200" y="5020056"/>
            <a:ext cx="5470855" cy="694944"/>
          </a:xfrm>
          <a:prstGeom prst="roundRect">
            <a:avLst>
              <a:gd name="adj" fmla="val 15789"/>
            </a:avLst>
          </a:prstGeom>
          <a:solidFill>
            <a:schemeClr val="bg2"/>
          </a:solidFill>
          <a:ln/>
        </p:spPr>
      </p:sp>
      <p:sp>
        <p:nvSpPr>
          <p:cNvPr id="23" name="future-num-5"/>
          <p:cNvSpPr/>
          <p:nvPr/>
        </p:nvSpPr>
        <p:spPr>
          <a:xfrm>
            <a:off x="6309360" y="5138928"/>
            <a:ext cx="457200" cy="457200"/>
          </a:xfrm>
          <a:prstGeom prst="ellipse">
            <a:avLst/>
          </a:prstGeom>
          <a:solidFill>
            <a:schemeClr val="accent1"/>
          </a:solidFill>
          <a:ln/>
        </p:spPr>
      </p:sp>
      <p:sp>
        <p:nvSpPr>
          <p:cNvPr id="24" name="Text 22"/>
          <p:cNvSpPr txBox="1"/>
          <p:nvPr/>
        </p:nvSpPr>
        <p:spPr>
          <a:xfrm>
            <a:off x="6309360" y="51389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Text 23"/>
          <p:cNvSpPr txBox="1"/>
          <p:nvPr/>
        </p:nvSpPr>
        <p:spPr>
          <a:xfrm>
            <a:off x="6949440" y="5020056"/>
            <a:ext cx="4556455" cy="694944"/>
          </a:xfrm>
          <a:prstGeom prst="rect">
            <a:avLst/>
          </a:prstGeom>
          <a:noFill/>
          <a:ln/>
        </p:spPr>
        <p:txBody>
          <a:bodyPr wrap="square" lIns="0" tIns="0" rIns="0" bIns="0" rtlCol="0" anchor="ctr"/>
          <a:lstStyle/>
          <a:p>
            <a:pPr indent="0" marL="0">
              <a:buNone/>
            </a:pPr>
            <a:r>
              <a:rPr lang="en-US" sz="1800" b="1" dirty="0">
                <a:solidFill>
                  <a:schemeClr val="tx1"/>
                </a:solidFill>
              </a:rPr>
              <a:t>Apache Flink: </a:t>
            </a:r>
            <a:pPr indent="0" marL="0">
              <a:buNone/>
            </a:pPr>
            <a:r>
              <a:rPr lang="en-US" sz="1800" dirty="0">
                <a:solidFill>
                  <a:schemeClr val="tx1"/>
                </a:solidFill>
              </a:rPr>
              <a:t>streaming engine alternative to Spark</a:t>
            </a:r>
            <a:endParaRPr lang="en-US" sz="1800" dirty="0"/>
          </a:p>
        </p:txBody>
      </p:sp>
      <p:sp>
        <p:nvSpPr>
          <p:cNvPr id="26" name="Text 24"/>
          <p:cNvSpPr txBox="1"/>
          <p:nvPr/>
        </p:nvSpPr>
        <p:spPr>
          <a:xfrm>
            <a:off x="548640" y="5669280"/>
            <a:ext cx="5120640" cy="457200"/>
          </a:xfrm>
          <a:prstGeom prst="rect">
            <a:avLst/>
          </a:prstGeom>
          <a:noFill/>
          <a:ln/>
        </p:spPr>
        <p:txBody>
          <a:bodyPr wrap="square" lIns="0" tIns="0" rIns="0" bIns="0" rtlCol="0" anchor="t"/>
          <a:lstStyle/>
          <a:p>
            <a:pPr indent="0" marL="0">
              <a:buNone/>
            </a:pPr>
            <a:r>
              <a:rPr lang="en-US" sz="2200" b="1" dirty="0">
                <a:solidFill>
                  <a:schemeClr val="accent1"/>
                </a:solidFill>
              </a:rPr>
              <a:t>Thank you. Questions?</a:t>
            </a:r>
            <a:endParaRPr lang="en-US" sz="2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Lakehouse">
  <a:themeElements>
    <a:clrScheme name="Lakehouse">
      <a:dk1>
        <a:srgbClr val="1F2933"/>
      </a:dk1>
      <a:lt1>
        <a:srgbClr val="FFFFFF"/>
      </a:lt1>
      <a:dk2>
        <a:srgbClr val="52606D"/>
      </a:dk2>
      <a:lt2>
        <a:srgbClr val="EEF3FB"/>
      </a:lt2>
      <a:accent1>
        <a:srgbClr val="2B6CD8"/>
      </a:accent1>
      <a:accent2>
        <a:srgbClr val="9FB3C8"/>
      </a:accent2>
      <a:accent3>
        <a:srgbClr val="D9E2EC"/>
      </a:accent3>
      <a:accent4>
        <a:srgbClr val="627D98"/>
      </a:accent4>
      <a:accent5>
        <a:srgbClr val="334E68"/>
      </a:accent5>
      <a:accent6>
        <a:srgbClr val="BCCCDC"/>
      </a:accent6>
      <a:hlink>
        <a:srgbClr val="2B6CD8"/>
      </a:hlink>
      <a:folHlink>
        <a:srgbClr val="334E68"/>
      </a:folHlink>
    </a:clrScheme>
    <a:fontScheme name="Lakehou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Lakehouse Architecture with Apache Iceberg, Spark and Trino using CDC Ingestion</dc:title>
  <dc:subject>SE-315 Cloud Computing semester project</dc:subject>
  <dc:creator>Group 04: Aliyan Zulfiqar, Sehrosh Riaz</dc:creator>
  <cp:lastModifiedBy>Group 04: Aliyan Zulfiqar, Sehrosh Riaz</cp:lastModifiedBy>
  <cp:revision>1</cp:revision>
  <dcterms:created xsi:type="dcterms:W3CDTF">2026-10-07T18:32:12Z</dcterms:created>
  <dcterms:modified xsi:type="dcterms:W3CDTF">2026-10-07T18:32:12Z</dcterms:modified>
</cp:coreProperties>
</file>